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7" r:id="rId3"/>
    <p:sldId id="258" r:id="rId4"/>
    <p:sldId id="260" r:id="rId5"/>
    <p:sldId id="277" r:id="rId6"/>
    <p:sldId id="278" r:id="rId7"/>
    <p:sldId id="279" r:id="rId8"/>
    <p:sldId id="259" r:id="rId9"/>
    <p:sldId id="267" r:id="rId10"/>
    <p:sldId id="268" r:id="rId11"/>
    <p:sldId id="269" r:id="rId12"/>
    <p:sldId id="280" r:id="rId13"/>
    <p:sldId id="281" r:id="rId14"/>
    <p:sldId id="273" r:id="rId15"/>
    <p:sldId id="271" r:id="rId16"/>
    <p:sldId id="284" r:id="rId17"/>
    <p:sldId id="270" r:id="rId18"/>
    <p:sldId id="263" r:id="rId19"/>
    <p:sldId id="283" r:id="rId20"/>
    <p:sldId id="282" r:id="rId21"/>
    <p:sldId id="276" r:id="rId22"/>
    <p:sldId id="266" r:id="rId23"/>
    <p:sldId id="264" r:id="rId24"/>
  </p:sldIdLst>
  <p:sldSz cx="18288000" cy="10287000"/>
  <p:notesSz cx="6858000" cy="9144000"/>
  <p:embeddedFontLst>
    <p:embeddedFont>
      <p:font typeface="Montserrat" pitchFamily="2" charset="77"/>
      <p:regular r:id="rId26"/>
      <p:bold r:id="rId27"/>
      <p:italic r:id="rId28"/>
      <p:boldItalic r:id="rId29"/>
    </p:embeddedFont>
    <p:embeddedFont>
      <p:font typeface="Montserrat Bold" pitchFamily="2" charset="77"/>
      <p:regular r:id="rId30"/>
      <p:bold r:id="rId31"/>
    </p:embeddedFont>
    <p:embeddedFont>
      <p:font typeface="Montserrat Medium" panose="00000600000000000000" pitchFamily="2" charset="77"/>
      <p:regular r:id="rId32"/>
      <p:italic r:id="rId33"/>
    </p:embeddedFont>
    <p:embeddedFont>
      <p:font typeface="Montserrat Semi-Bold" pitchFamily="2" charset="77"/>
      <p:regular r:id="rId34"/>
      <p:bold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4142"/>
    <a:srgbClr val="114330"/>
    <a:srgbClr val="F5E5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48" autoAdjust="0"/>
    <p:restoredTop sz="77624" autoAdjust="0"/>
  </p:normalViewPr>
  <p:slideViewPr>
    <p:cSldViewPr>
      <p:cViewPr varScale="1">
        <p:scale>
          <a:sx n="55" d="100"/>
          <a:sy n="55" d="100"/>
        </p:scale>
        <p:origin x="1808" y="4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2A8154-BD31-874D-9B76-D3DB6A2D7558}"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99B3DCE8-8F71-634D-A1AF-4EEA37BD08CE}">
      <dgm:prSet custT="1"/>
      <dgm:spPr>
        <a:solidFill>
          <a:schemeClr val="bg1">
            <a:alpha val="15000"/>
          </a:schemeClr>
        </a:solidFill>
        <a:ln>
          <a:solidFill>
            <a:schemeClr val="lt1">
              <a:hueOff val="0"/>
              <a:satOff val="0"/>
              <a:lumOff val="0"/>
            </a:schemeClr>
          </a:solidFill>
        </a:ln>
      </dgm:spPr>
      <dgm:t>
        <a:bodyPr/>
        <a:lstStyle/>
        <a:p>
          <a:r>
            <a:rPr lang="en-US" sz="2400" dirty="0"/>
            <a:t>Business Understanding</a:t>
          </a:r>
        </a:p>
      </dgm:t>
    </dgm:pt>
    <dgm:pt modelId="{F563E608-E449-C049-9427-1C045218932C}" type="parTrans" cxnId="{EC2A3C0E-FF66-6342-896F-E767BA532638}">
      <dgm:prSet/>
      <dgm:spPr/>
      <dgm:t>
        <a:bodyPr/>
        <a:lstStyle/>
        <a:p>
          <a:endParaRPr lang="en-US"/>
        </a:p>
      </dgm:t>
    </dgm:pt>
    <dgm:pt modelId="{71A1D505-D4B3-7543-9921-FE7E05F91A5D}" type="sibTrans" cxnId="{EC2A3C0E-FF66-6342-896F-E767BA532638}">
      <dgm:prSet/>
      <dgm:spPr>
        <a:solidFill>
          <a:schemeClr val="bg1">
            <a:alpha val="15000"/>
          </a:schemeClr>
        </a:solidFill>
        <a:ln>
          <a:solidFill>
            <a:schemeClr val="lt1">
              <a:hueOff val="0"/>
              <a:satOff val="0"/>
              <a:lumOff val="0"/>
            </a:schemeClr>
          </a:solidFill>
        </a:ln>
      </dgm:spPr>
      <dgm:t>
        <a:bodyPr/>
        <a:lstStyle/>
        <a:p>
          <a:endParaRPr lang="en-US"/>
        </a:p>
      </dgm:t>
    </dgm:pt>
    <dgm:pt modelId="{353CEBFB-4578-1E46-8ACC-A38F4965E4BB}">
      <dgm:prSet custT="1"/>
      <dgm:spPr>
        <a:solidFill>
          <a:schemeClr val="bg1">
            <a:alpha val="15000"/>
          </a:schemeClr>
        </a:solidFill>
        <a:ln>
          <a:solidFill>
            <a:schemeClr val="lt1">
              <a:hueOff val="0"/>
              <a:satOff val="0"/>
              <a:lumOff val="0"/>
            </a:schemeClr>
          </a:solidFill>
        </a:ln>
      </dgm:spPr>
      <dgm:t>
        <a:bodyPr/>
        <a:lstStyle/>
        <a:p>
          <a:r>
            <a:rPr lang="en-US" sz="2400" dirty="0"/>
            <a:t>Data Exploration</a:t>
          </a:r>
        </a:p>
      </dgm:t>
    </dgm:pt>
    <dgm:pt modelId="{870DBDCF-3C26-6147-A99C-1DB1BF82197A}" type="parTrans" cxnId="{7A52861B-A1A7-CA49-A92D-9E64C8E2C0D0}">
      <dgm:prSet/>
      <dgm:spPr/>
      <dgm:t>
        <a:bodyPr/>
        <a:lstStyle/>
        <a:p>
          <a:endParaRPr lang="en-US"/>
        </a:p>
      </dgm:t>
    </dgm:pt>
    <dgm:pt modelId="{FE532E15-9191-FF41-B08F-9FB3C471DC87}" type="sibTrans" cxnId="{7A52861B-A1A7-CA49-A92D-9E64C8E2C0D0}">
      <dgm:prSet/>
      <dgm:spPr>
        <a:solidFill>
          <a:schemeClr val="bg1">
            <a:alpha val="15000"/>
          </a:schemeClr>
        </a:solidFill>
        <a:ln>
          <a:solidFill>
            <a:schemeClr val="lt1">
              <a:hueOff val="0"/>
              <a:satOff val="0"/>
              <a:lumOff val="0"/>
            </a:schemeClr>
          </a:solidFill>
        </a:ln>
      </dgm:spPr>
      <dgm:t>
        <a:bodyPr/>
        <a:lstStyle/>
        <a:p>
          <a:endParaRPr lang="en-US"/>
        </a:p>
      </dgm:t>
    </dgm:pt>
    <dgm:pt modelId="{BBE99F47-A2AE-844D-BBAF-4F536395693F}">
      <dgm:prSet custT="1"/>
      <dgm:spPr>
        <a:solidFill>
          <a:schemeClr val="bg1">
            <a:alpha val="15000"/>
          </a:schemeClr>
        </a:solidFill>
        <a:ln>
          <a:solidFill>
            <a:schemeClr val="lt1">
              <a:hueOff val="0"/>
              <a:satOff val="0"/>
              <a:lumOff val="0"/>
            </a:schemeClr>
          </a:solidFill>
        </a:ln>
      </dgm:spPr>
      <dgm:t>
        <a:bodyPr/>
        <a:lstStyle/>
        <a:p>
          <a:r>
            <a:rPr lang="en-US" sz="2400" dirty="0"/>
            <a:t>Exploratory Data Analysis</a:t>
          </a:r>
        </a:p>
      </dgm:t>
    </dgm:pt>
    <dgm:pt modelId="{99AA24EE-0729-9342-ACA9-463280AB6657}" type="parTrans" cxnId="{E1F82188-BDD9-E54B-8216-39A93A32406D}">
      <dgm:prSet/>
      <dgm:spPr/>
      <dgm:t>
        <a:bodyPr/>
        <a:lstStyle/>
        <a:p>
          <a:endParaRPr lang="en-US"/>
        </a:p>
      </dgm:t>
    </dgm:pt>
    <dgm:pt modelId="{34A8E9D8-9A35-984E-8966-1AD2732F2990}" type="sibTrans" cxnId="{E1F82188-BDD9-E54B-8216-39A93A32406D}">
      <dgm:prSet/>
      <dgm:spPr>
        <a:solidFill>
          <a:schemeClr val="bg1">
            <a:alpha val="15000"/>
          </a:schemeClr>
        </a:solidFill>
        <a:ln>
          <a:solidFill>
            <a:schemeClr val="lt1">
              <a:hueOff val="0"/>
              <a:satOff val="0"/>
              <a:lumOff val="0"/>
            </a:schemeClr>
          </a:solidFill>
        </a:ln>
      </dgm:spPr>
      <dgm:t>
        <a:bodyPr/>
        <a:lstStyle/>
        <a:p>
          <a:endParaRPr lang="en-US"/>
        </a:p>
      </dgm:t>
    </dgm:pt>
    <dgm:pt modelId="{17079C1F-ADCF-A34B-93C9-625F77709EE2}">
      <dgm:prSet custT="1"/>
      <dgm:spPr>
        <a:solidFill>
          <a:schemeClr val="bg1">
            <a:alpha val="15000"/>
          </a:schemeClr>
        </a:solidFill>
        <a:ln>
          <a:solidFill>
            <a:schemeClr val="lt1">
              <a:hueOff val="0"/>
              <a:satOff val="0"/>
              <a:lumOff val="0"/>
            </a:schemeClr>
          </a:solidFill>
        </a:ln>
      </dgm:spPr>
      <dgm:t>
        <a:bodyPr/>
        <a:lstStyle/>
        <a:p>
          <a:r>
            <a:rPr lang="en-US" sz="2400" dirty="0"/>
            <a:t>Data Preparation</a:t>
          </a:r>
        </a:p>
      </dgm:t>
    </dgm:pt>
    <dgm:pt modelId="{467612CC-FC41-B847-9CEA-0092B7840E71}" type="parTrans" cxnId="{C7D1221E-A072-8441-9F1E-6A54561E0915}">
      <dgm:prSet/>
      <dgm:spPr/>
      <dgm:t>
        <a:bodyPr/>
        <a:lstStyle/>
        <a:p>
          <a:endParaRPr lang="en-US"/>
        </a:p>
      </dgm:t>
    </dgm:pt>
    <dgm:pt modelId="{2FB34C6C-4B69-234D-9128-E93AA92386D2}" type="sibTrans" cxnId="{C7D1221E-A072-8441-9F1E-6A54561E0915}">
      <dgm:prSet/>
      <dgm:spPr>
        <a:solidFill>
          <a:schemeClr val="bg1">
            <a:alpha val="15000"/>
          </a:schemeClr>
        </a:solidFill>
        <a:ln>
          <a:solidFill>
            <a:schemeClr val="lt1">
              <a:hueOff val="0"/>
              <a:satOff val="0"/>
              <a:lumOff val="0"/>
            </a:schemeClr>
          </a:solidFill>
        </a:ln>
      </dgm:spPr>
      <dgm:t>
        <a:bodyPr/>
        <a:lstStyle/>
        <a:p>
          <a:endParaRPr lang="en-US"/>
        </a:p>
      </dgm:t>
    </dgm:pt>
    <dgm:pt modelId="{39EC5B07-95EE-0443-A1EB-87DE437CC309}">
      <dgm:prSet custT="1"/>
      <dgm:spPr>
        <a:solidFill>
          <a:schemeClr val="bg1">
            <a:alpha val="15000"/>
          </a:schemeClr>
        </a:solidFill>
        <a:ln>
          <a:solidFill>
            <a:schemeClr val="lt1">
              <a:hueOff val="0"/>
              <a:satOff val="0"/>
              <a:lumOff val="0"/>
            </a:schemeClr>
          </a:solidFill>
        </a:ln>
      </dgm:spPr>
      <dgm:t>
        <a:bodyPr/>
        <a:lstStyle/>
        <a:p>
          <a:r>
            <a:rPr lang="en-US" sz="2400" dirty="0"/>
            <a:t>Model Development</a:t>
          </a:r>
        </a:p>
      </dgm:t>
    </dgm:pt>
    <dgm:pt modelId="{5CBE1B93-D5E4-8949-B016-7D904514B9D9}" type="parTrans" cxnId="{4915E1F0-F26C-1247-A2F9-D3321F83C3F4}">
      <dgm:prSet/>
      <dgm:spPr/>
      <dgm:t>
        <a:bodyPr/>
        <a:lstStyle/>
        <a:p>
          <a:endParaRPr lang="en-US"/>
        </a:p>
      </dgm:t>
    </dgm:pt>
    <dgm:pt modelId="{15C6CE89-75A7-0642-8F34-48B43697F8DA}" type="sibTrans" cxnId="{4915E1F0-F26C-1247-A2F9-D3321F83C3F4}">
      <dgm:prSet/>
      <dgm:spPr>
        <a:solidFill>
          <a:schemeClr val="bg1">
            <a:alpha val="15000"/>
          </a:schemeClr>
        </a:solidFill>
        <a:ln>
          <a:solidFill>
            <a:schemeClr val="lt1">
              <a:hueOff val="0"/>
              <a:satOff val="0"/>
              <a:lumOff val="0"/>
            </a:schemeClr>
          </a:solidFill>
        </a:ln>
      </dgm:spPr>
      <dgm:t>
        <a:bodyPr/>
        <a:lstStyle/>
        <a:p>
          <a:endParaRPr lang="en-US"/>
        </a:p>
      </dgm:t>
    </dgm:pt>
    <dgm:pt modelId="{B5E5C676-E7EA-F845-AA53-A6751E2D316B}">
      <dgm:prSet custT="1"/>
      <dgm:spPr>
        <a:solidFill>
          <a:schemeClr val="bg1">
            <a:alpha val="15000"/>
          </a:schemeClr>
        </a:solidFill>
        <a:ln>
          <a:solidFill>
            <a:schemeClr val="lt1">
              <a:hueOff val="0"/>
              <a:satOff val="0"/>
              <a:lumOff val="0"/>
            </a:schemeClr>
          </a:solidFill>
        </a:ln>
      </dgm:spPr>
      <dgm:t>
        <a:bodyPr/>
        <a:lstStyle/>
        <a:p>
          <a:r>
            <a:rPr lang="en-US" sz="2400" dirty="0"/>
            <a:t>Model Evaluation</a:t>
          </a:r>
        </a:p>
      </dgm:t>
    </dgm:pt>
    <dgm:pt modelId="{91D9E3D0-614F-C144-9782-D255DA05518C}" type="parTrans" cxnId="{B11BD13B-0AAF-B745-99FD-24E35D57AC78}">
      <dgm:prSet/>
      <dgm:spPr/>
      <dgm:t>
        <a:bodyPr/>
        <a:lstStyle/>
        <a:p>
          <a:endParaRPr lang="en-US"/>
        </a:p>
      </dgm:t>
    </dgm:pt>
    <dgm:pt modelId="{BEB5B073-DDE4-3D49-9AFD-C841267FE6BD}" type="sibTrans" cxnId="{B11BD13B-0AAF-B745-99FD-24E35D57AC78}">
      <dgm:prSet/>
      <dgm:spPr>
        <a:solidFill>
          <a:schemeClr val="bg1">
            <a:alpha val="15000"/>
          </a:schemeClr>
        </a:solidFill>
        <a:ln>
          <a:solidFill>
            <a:schemeClr val="lt1">
              <a:hueOff val="0"/>
              <a:satOff val="0"/>
              <a:lumOff val="0"/>
            </a:schemeClr>
          </a:solidFill>
        </a:ln>
      </dgm:spPr>
      <dgm:t>
        <a:bodyPr/>
        <a:lstStyle/>
        <a:p>
          <a:endParaRPr lang="en-US"/>
        </a:p>
      </dgm:t>
    </dgm:pt>
    <dgm:pt modelId="{96BC2652-4E91-5F48-8304-4A5B082FB19D}">
      <dgm:prSet custT="1"/>
      <dgm:spPr>
        <a:solidFill>
          <a:schemeClr val="bg1">
            <a:alpha val="15000"/>
          </a:schemeClr>
        </a:solidFill>
        <a:ln>
          <a:solidFill>
            <a:schemeClr val="lt1">
              <a:hueOff val="0"/>
              <a:satOff val="0"/>
              <a:lumOff val="0"/>
            </a:schemeClr>
          </a:solidFill>
        </a:ln>
      </dgm:spPr>
      <dgm:t>
        <a:bodyPr/>
        <a:lstStyle/>
        <a:p>
          <a:r>
            <a:rPr lang="en-US" sz="2400" dirty="0"/>
            <a:t>Business Insights</a:t>
          </a:r>
        </a:p>
      </dgm:t>
    </dgm:pt>
    <dgm:pt modelId="{439B757C-5F2F-9E4D-B704-63B87FC78234}" type="parTrans" cxnId="{F4CA5F36-83DE-5042-A65B-FC1FFE7451BA}">
      <dgm:prSet/>
      <dgm:spPr/>
      <dgm:t>
        <a:bodyPr/>
        <a:lstStyle/>
        <a:p>
          <a:endParaRPr lang="en-US"/>
        </a:p>
      </dgm:t>
    </dgm:pt>
    <dgm:pt modelId="{1667430E-C070-BA44-9040-CD6D7A240103}" type="sibTrans" cxnId="{F4CA5F36-83DE-5042-A65B-FC1FFE7451BA}">
      <dgm:prSet/>
      <dgm:spPr/>
      <dgm:t>
        <a:bodyPr/>
        <a:lstStyle/>
        <a:p>
          <a:endParaRPr lang="en-US"/>
        </a:p>
      </dgm:t>
    </dgm:pt>
    <dgm:pt modelId="{9E7DFBBE-F2D6-C34B-A778-B38E75E00E8A}" type="pres">
      <dgm:prSet presAssocID="{652A8154-BD31-874D-9B76-D3DB6A2D7558}" presName="Name0" presStyleCnt="0">
        <dgm:presLayoutVars>
          <dgm:dir/>
          <dgm:resizeHandles val="exact"/>
        </dgm:presLayoutVars>
      </dgm:prSet>
      <dgm:spPr/>
    </dgm:pt>
    <dgm:pt modelId="{B2BB7DF1-8587-C443-8154-760C54F26664}" type="pres">
      <dgm:prSet presAssocID="{99B3DCE8-8F71-634D-A1AF-4EEA37BD08CE}" presName="node" presStyleLbl="node1" presStyleIdx="0" presStyleCnt="7">
        <dgm:presLayoutVars>
          <dgm:bulletEnabled val="1"/>
        </dgm:presLayoutVars>
      </dgm:prSet>
      <dgm:spPr/>
    </dgm:pt>
    <dgm:pt modelId="{F4881578-89DC-7846-B308-055F5B2FA4CE}" type="pres">
      <dgm:prSet presAssocID="{71A1D505-D4B3-7543-9921-FE7E05F91A5D}" presName="sibTrans" presStyleLbl="sibTrans2D1" presStyleIdx="0" presStyleCnt="6"/>
      <dgm:spPr/>
    </dgm:pt>
    <dgm:pt modelId="{04AB4FAD-7F7C-4D4B-B929-A5BEFC71E6E7}" type="pres">
      <dgm:prSet presAssocID="{71A1D505-D4B3-7543-9921-FE7E05F91A5D}" presName="connectorText" presStyleLbl="sibTrans2D1" presStyleIdx="0" presStyleCnt="6"/>
      <dgm:spPr/>
    </dgm:pt>
    <dgm:pt modelId="{22FC22D9-888F-734E-AB45-54066E4BE814}" type="pres">
      <dgm:prSet presAssocID="{353CEBFB-4578-1E46-8ACC-A38F4965E4BB}" presName="node" presStyleLbl="node1" presStyleIdx="1" presStyleCnt="7">
        <dgm:presLayoutVars>
          <dgm:bulletEnabled val="1"/>
        </dgm:presLayoutVars>
      </dgm:prSet>
      <dgm:spPr/>
    </dgm:pt>
    <dgm:pt modelId="{1DEF8428-3AAF-5D41-8B41-2158784B49EF}" type="pres">
      <dgm:prSet presAssocID="{FE532E15-9191-FF41-B08F-9FB3C471DC87}" presName="sibTrans" presStyleLbl="sibTrans2D1" presStyleIdx="1" presStyleCnt="6"/>
      <dgm:spPr/>
    </dgm:pt>
    <dgm:pt modelId="{9F19B8C5-FF19-A041-AD18-7B0625A188FD}" type="pres">
      <dgm:prSet presAssocID="{FE532E15-9191-FF41-B08F-9FB3C471DC87}" presName="connectorText" presStyleLbl="sibTrans2D1" presStyleIdx="1" presStyleCnt="6"/>
      <dgm:spPr/>
    </dgm:pt>
    <dgm:pt modelId="{2D9C8208-3ED5-1640-9B1B-185F0EDBBF29}" type="pres">
      <dgm:prSet presAssocID="{BBE99F47-A2AE-844D-BBAF-4F536395693F}" presName="node" presStyleLbl="node1" presStyleIdx="2" presStyleCnt="7">
        <dgm:presLayoutVars>
          <dgm:bulletEnabled val="1"/>
        </dgm:presLayoutVars>
      </dgm:prSet>
      <dgm:spPr/>
    </dgm:pt>
    <dgm:pt modelId="{18766D2F-2E93-1045-B54D-DCC8660D2107}" type="pres">
      <dgm:prSet presAssocID="{34A8E9D8-9A35-984E-8966-1AD2732F2990}" presName="sibTrans" presStyleLbl="sibTrans2D1" presStyleIdx="2" presStyleCnt="6"/>
      <dgm:spPr/>
    </dgm:pt>
    <dgm:pt modelId="{E868145B-7945-874C-BE9D-2437238B442F}" type="pres">
      <dgm:prSet presAssocID="{34A8E9D8-9A35-984E-8966-1AD2732F2990}" presName="connectorText" presStyleLbl="sibTrans2D1" presStyleIdx="2" presStyleCnt="6"/>
      <dgm:spPr/>
    </dgm:pt>
    <dgm:pt modelId="{76DF492E-33AC-724E-8D9D-87902544441E}" type="pres">
      <dgm:prSet presAssocID="{17079C1F-ADCF-A34B-93C9-625F77709EE2}" presName="node" presStyleLbl="node1" presStyleIdx="3" presStyleCnt="7">
        <dgm:presLayoutVars>
          <dgm:bulletEnabled val="1"/>
        </dgm:presLayoutVars>
      </dgm:prSet>
      <dgm:spPr/>
    </dgm:pt>
    <dgm:pt modelId="{8EF55259-775D-FA4B-AD3B-675CEA7C9F00}" type="pres">
      <dgm:prSet presAssocID="{2FB34C6C-4B69-234D-9128-E93AA92386D2}" presName="sibTrans" presStyleLbl="sibTrans2D1" presStyleIdx="3" presStyleCnt="6"/>
      <dgm:spPr/>
    </dgm:pt>
    <dgm:pt modelId="{D46B28EA-0E1C-404E-84F0-85842B4FE5C6}" type="pres">
      <dgm:prSet presAssocID="{2FB34C6C-4B69-234D-9128-E93AA92386D2}" presName="connectorText" presStyleLbl="sibTrans2D1" presStyleIdx="3" presStyleCnt="6"/>
      <dgm:spPr/>
    </dgm:pt>
    <dgm:pt modelId="{D984FC9D-416E-4D44-8A69-80AEAC43BFAC}" type="pres">
      <dgm:prSet presAssocID="{39EC5B07-95EE-0443-A1EB-87DE437CC309}" presName="node" presStyleLbl="node1" presStyleIdx="4" presStyleCnt="7">
        <dgm:presLayoutVars>
          <dgm:bulletEnabled val="1"/>
        </dgm:presLayoutVars>
      </dgm:prSet>
      <dgm:spPr/>
    </dgm:pt>
    <dgm:pt modelId="{67EFC97D-8067-1E49-A28E-83B2878C26CB}" type="pres">
      <dgm:prSet presAssocID="{15C6CE89-75A7-0642-8F34-48B43697F8DA}" presName="sibTrans" presStyleLbl="sibTrans2D1" presStyleIdx="4" presStyleCnt="6"/>
      <dgm:spPr/>
    </dgm:pt>
    <dgm:pt modelId="{E0273513-41A8-6749-882E-424B449AD627}" type="pres">
      <dgm:prSet presAssocID="{15C6CE89-75A7-0642-8F34-48B43697F8DA}" presName="connectorText" presStyleLbl="sibTrans2D1" presStyleIdx="4" presStyleCnt="6"/>
      <dgm:spPr/>
    </dgm:pt>
    <dgm:pt modelId="{178E6C5D-BB44-BC4E-B8FA-D7CB21F749D9}" type="pres">
      <dgm:prSet presAssocID="{B5E5C676-E7EA-F845-AA53-A6751E2D316B}" presName="node" presStyleLbl="node1" presStyleIdx="5" presStyleCnt="7">
        <dgm:presLayoutVars>
          <dgm:bulletEnabled val="1"/>
        </dgm:presLayoutVars>
      </dgm:prSet>
      <dgm:spPr/>
    </dgm:pt>
    <dgm:pt modelId="{EA02CC48-F6CC-7E4F-8956-9C128AE2A0C3}" type="pres">
      <dgm:prSet presAssocID="{BEB5B073-DDE4-3D49-9AFD-C841267FE6BD}" presName="sibTrans" presStyleLbl="sibTrans2D1" presStyleIdx="5" presStyleCnt="6"/>
      <dgm:spPr/>
    </dgm:pt>
    <dgm:pt modelId="{A372F667-0B20-8C49-AF05-329D73968B83}" type="pres">
      <dgm:prSet presAssocID="{BEB5B073-DDE4-3D49-9AFD-C841267FE6BD}" presName="connectorText" presStyleLbl="sibTrans2D1" presStyleIdx="5" presStyleCnt="6"/>
      <dgm:spPr/>
    </dgm:pt>
    <dgm:pt modelId="{6FD60E23-8595-BC42-80FE-E0CEEC824A2D}" type="pres">
      <dgm:prSet presAssocID="{96BC2652-4E91-5F48-8304-4A5B082FB19D}" presName="node" presStyleLbl="node1" presStyleIdx="6" presStyleCnt="7">
        <dgm:presLayoutVars>
          <dgm:bulletEnabled val="1"/>
        </dgm:presLayoutVars>
      </dgm:prSet>
      <dgm:spPr/>
    </dgm:pt>
  </dgm:ptLst>
  <dgm:cxnLst>
    <dgm:cxn modelId="{EC2A3C0E-FF66-6342-896F-E767BA532638}" srcId="{652A8154-BD31-874D-9B76-D3DB6A2D7558}" destId="{99B3DCE8-8F71-634D-A1AF-4EEA37BD08CE}" srcOrd="0" destOrd="0" parTransId="{F563E608-E449-C049-9427-1C045218932C}" sibTransId="{71A1D505-D4B3-7543-9921-FE7E05F91A5D}"/>
    <dgm:cxn modelId="{CEEC711B-AEA0-A748-AF4F-3B5F888F038B}" type="presOf" srcId="{99B3DCE8-8F71-634D-A1AF-4EEA37BD08CE}" destId="{B2BB7DF1-8587-C443-8154-760C54F26664}" srcOrd="0" destOrd="0" presId="urn:microsoft.com/office/officeart/2005/8/layout/process1"/>
    <dgm:cxn modelId="{7A52861B-A1A7-CA49-A92D-9E64C8E2C0D0}" srcId="{652A8154-BD31-874D-9B76-D3DB6A2D7558}" destId="{353CEBFB-4578-1E46-8ACC-A38F4965E4BB}" srcOrd="1" destOrd="0" parTransId="{870DBDCF-3C26-6147-A99C-1DB1BF82197A}" sibTransId="{FE532E15-9191-FF41-B08F-9FB3C471DC87}"/>
    <dgm:cxn modelId="{C7D1221E-A072-8441-9F1E-6A54561E0915}" srcId="{652A8154-BD31-874D-9B76-D3DB6A2D7558}" destId="{17079C1F-ADCF-A34B-93C9-625F77709EE2}" srcOrd="3" destOrd="0" parTransId="{467612CC-FC41-B847-9CEA-0092B7840E71}" sibTransId="{2FB34C6C-4B69-234D-9128-E93AA92386D2}"/>
    <dgm:cxn modelId="{23F7BB23-87AE-CB41-927A-2BF6777BB9B6}" type="presOf" srcId="{71A1D505-D4B3-7543-9921-FE7E05F91A5D}" destId="{04AB4FAD-7F7C-4D4B-B929-A5BEFC71E6E7}" srcOrd="1" destOrd="0" presId="urn:microsoft.com/office/officeart/2005/8/layout/process1"/>
    <dgm:cxn modelId="{F4CA5F36-83DE-5042-A65B-FC1FFE7451BA}" srcId="{652A8154-BD31-874D-9B76-D3DB6A2D7558}" destId="{96BC2652-4E91-5F48-8304-4A5B082FB19D}" srcOrd="6" destOrd="0" parTransId="{439B757C-5F2F-9E4D-B704-63B87FC78234}" sibTransId="{1667430E-C070-BA44-9040-CD6D7A240103}"/>
    <dgm:cxn modelId="{1DD9413B-1976-8D4B-A2EF-03B00E429D38}" type="presOf" srcId="{FE532E15-9191-FF41-B08F-9FB3C471DC87}" destId="{1DEF8428-3AAF-5D41-8B41-2158784B49EF}" srcOrd="0" destOrd="0" presId="urn:microsoft.com/office/officeart/2005/8/layout/process1"/>
    <dgm:cxn modelId="{B11BD13B-0AAF-B745-99FD-24E35D57AC78}" srcId="{652A8154-BD31-874D-9B76-D3DB6A2D7558}" destId="{B5E5C676-E7EA-F845-AA53-A6751E2D316B}" srcOrd="5" destOrd="0" parTransId="{91D9E3D0-614F-C144-9782-D255DA05518C}" sibTransId="{BEB5B073-DDE4-3D49-9AFD-C841267FE6BD}"/>
    <dgm:cxn modelId="{D9635C4E-0657-6142-A55D-3FFC6F1E8391}" type="presOf" srcId="{34A8E9D8-9A35-984E-8966-1AD2732F2990}" destId="{18766D2F-2E93-1045-B54D-DCC8660D2107}" srcOrd="0" destOrd="0" presId="urn:microsoft.com/office/officeart/2005/8/layout/process1"/>
    <dgm:cxn modelId="{3E840E50-8A07-1F43-BCAF-EDC5F01A1734}" type="presOf" srcId="{96BC2652-4E91-5F48-8304-4A5B082FB19D}" destId="{6FD60E23-8595-BC42-80FE-E0CEEC824A2D}" srcOrd="0" destOrd="0" presId="urn:microsoft.com/office/officeart/2005/8/layout/process1"/>
    <dgm:cxn modelId="{5C047151-7AD1-4A43-9270-6EE5B3EE2E22}" type="presOf" srcId="{BBE99F47-A2AE-844D-BBAF-4F536395693F}" destId="{2D9C8208-3ED5-1640-9B1B-185F0EDBBF29}" srcOrd="0" destOrd="0" presId="urn:microsoft.com/office/officeart/2005/8/layout/process1"/>
    <dgm:cxn modelId="{F8E02073-93CA-E74D-A317-B09CB509DF50}" type="presOf" srcId="{34A8E9D8-9A35-984E-8966-1AD2732F2990}" destId="{E868145B-7945-874C-BE9D-2437238B442F}" srcOrd="1" destOrd="0" presId="urn:microsoft.com/office/officeart/2005/8/layout/process1"/>
    <dgm:cxn modelId="{6A88227B-AB9D-F34A-B785-9E80CF9FA00D}" type="presOf" srcId="{39EC5B07-95EE-0443-A1EB-87DE437CC309}" destId="{D984FC9D-416E-4D44-8A69-80AEAC43BFAC}" srcOrd="0" destOrd="0" presId="urn:microsoft.com/office/officeart/2005/8/layout/process1"/>
    <dgm:cxn modelId="{D8727E80-2A71-2C41-9405-C7AA3C4DDF18}" type="presOf" srcId="{17079C1F-ADCF-A34B-93C9-625F77709EE2}" destId="{76DF492E-33AC-724E-8D9D-87902544441E}" srcOrd="0" destOrd="0" presId="urn:microsoft.com/office/officeart/2005/8/layout/process1"/>
    <dgm:cxn modelId="{27CF3C85-D67F-0D4C-91B9-4969B1BFB94C}" type="presOf" srcId="{2FB34C6C-4B69-234D-9128-E93AA92386D2}" destId="{8EF55259-775D-FA4B-AD3B-675CEA7C9F00}" srcOrd="0" destOrd="0" presId="urn:microsoft.com/office/officeart/2005/8/layout/process1"/>
    <dgm:cxn modelId="{644FEA85-8B2B-3E46-B3DA-9C1EC7ECEE9A}" type="presOf" srcId="{652A8154-BD31-874D-9B76-D3DB6A2D7558}" destId="{9E7DFBBE-F2D6-C34B-A778-B38E75E00E8A}" srcOrd="0" destOrd="0" presId="urn:microsoft.com/office/officeart/2005/8/layout/process1"/>
    <dgm:cxn modelId="{E1F82188-BDD9-E54B-8216-39A93A32406D}" srcId="{652A8154-BD31-874D-9B76-D3DB6A2D7558}" destId="{BBE99F47-A2AE-844D-BBAF-4F536395693F}" srcOrd="2" destOrd="0" parTransId="{99AA24EE-0729-9342-ACA9-463280AB6657}" sibTransId="{34A8E9D8-9A35-984E-8966-1AD2732F2990}"/>
    <dgm:cxn modelId="{B4041F8F-7232-0140-8E19-C6702E0D434D}" type="presOf" srcId="{71A1D505-D4B3-7543-9921-FE7E05F91A5D}" destId="{F4881578-89DC-7846-B308-055F5B2FA4CE}" srcOrd="0" destOrd="0" presId="urn:microsoft.com/office/officeart/2005/8/layout/process1"/>
    <dgm:cxn modelId="{D293DB90-EE93-F245-94C8-020E2C55F1A1}" type="presOf" srcId="{FE532E15-9191-FF41-B08F-9FB3C471DC87}" destId="{9F19B8C5-FF19-A041-AD18-7B0625A188FD}" srcOrd="1" destOrd="0" presId="urn:microsoft.com/office/officeart/2005/8/layout/process1"/>
    <dgm:cxn modelId="{6018E8A6-4754-514E-8A66-59BE63CE445A}" type="presOf" srcId="{353CEBFB-4578-1E46-8ACC-A38F4965E4BB}" destId="{22FC22D9-888F-734E-AB45-54066E4BE814}" srcOrd="0" destOrd="0" presId="urn:microsoft.com/office/officeart/2005/8/layout/process1"/>
    <dgm:cxn modelId="{740308A9-8204-8D4C-A0A2-4DA255F2262A}" type="presOf" srcId="{15C6CE89-75A7-0642-8F34-48B43697F8DA}" destId="{67EFC97D-8067-1E49-A28E-83B2878C26CB}" srcOrd="0" destOrd="0" presId="urn:microsoft.com/office/officeart/2005/8/layout/process1"/>
    <dgm:cxn modelId="{2C6E99A9-B4DB-594C-98FE-B995C42170DD}" type="presOf" srcId="{BEB5B073-DDE4-3D49-9AFD-C841267FE6BD}" destId="{EA02CC48-F6CC-7E4F-8956-9C128AE2A0C3}" srcOrd="0" destOrd="0" presId="urn:microsoft.com/office/officeart/2005/8/layout/process1"/>
    <dgm:cxn modelId="{651F5FB1-99A8-3B46-8EFE-2F2485A28F12}" type="presOf" srcId="{15C6CE89-75A7-0642-8F34-48B43697F8DA}" destId="{E0273513-41A8-6749-882E-424B449AD627}" srcOrd="1" destOrd="0" presId="urn:microsoft.com/office/officeart/2005/8/layout/process1"/>
    <dgm:cxn modelId="{E4FE91E0-60A6-BB46-9DC4-B47CDB4224F3}" type="presOf" srcId="{B5E5C676-E7EA-F845-AA53-A6751E2D316B}" destId="{178E6C5D-BB44-BC4E-B8FA-D7CB21F749D9}" srcOrd="0" destOrd="0" presId="urn:microsoft.com/office/officeart/2005/8/layout/process1"/>
    <dgm:cxn modelId="{D6622EE5-84E1-D24F-8ADC-BCBCC2C06261}" type="presOf" srcId="{2FB34C6C-4B69-234D-9128-E93AA92386D2}" destId="{D46B28EA-0E1C-404E-84F0-85842B4FE5C6}" srcOrd="1" destOrd="0" presId="urn:microsoft.com/office/officeart/2005/8/layout/process1"/>
    <dgm:cxn modelId="{4915E1F0-F26C-1247-A2F9-D3321F83C3F4}" srcId="{652A8154-BD31-874D-9B76-D3DB6A2D7558}" destId="{39EC5B07-95EE-0443-A1EB-87DE437CC309}" srcOrd="4" destOrd="0" parTransId="{5CBE1B93-D5E4-8949-B016-7D904514B9D9}" sibTransId="{15C6CE89-75A7-0642-8F34-48B43697F8DA}"/>
    <dgm:cxn modelId="{27E1BBFB-3977-5244-BC5B-02991B74D664}" type="presOf" srcId="{BEB5B073-DDE4-3D49-9AFD-C841267FE6BD}" destId="{A372F667-0B20-8C49-AF05-329D73968B83}" srcOrd="1" destOrd="0" presId="urn:microsoft.com/office/officeart/2005/8/layout/process1"/>
    <dgm:cxn modelId="{79DA4059-4FA7-A54F-8CB3-D95BE8DCD00F}" type="presParOf" srcId="{9E7DFBBE-F2D6-C34B-A778-B38E75E00E8A}" destId="{B2BB7DF1-8587-C443-8154-760C54F26664}" srcOrd="0" destOrd="0" presId="urn:microsoft.com/office/officeart/2005/8/layout/process1"/>
    <dgm:cxn modelId="{689EA5CA-826F-B24D-9042-D076EE10ECB1}" type="presParOf" srcId="{9E7DFBBE-F2D6-C34B-A778-B38E75E00E8A}" destId="{F4881578-89DC-7846-B308-055F5B2FA4CE}" srcOrd="1" destOrd="0" presId="urn:microsoft.com/office/officeart/2005/8/layout/process1"/>
    <dgm:cxn modelId="{C5D084A8-4BB8-FF4D-9A36-5150D8B430CB}" type="presParOf" srcId="{F4881578-89DC-7846-B308-055F5B2FA4CE}" destId="{04AB4FAD-7F7C-4D4B-B929-A5BEFC71E6E7}" srcOrd="0" destOrd="0" presId="urn:microsoft.com/office/officeart/2005/8/layout/process1"/>
    <dgm:cxn modelId="{9562DB28-AE17-A645-A17B-1384229742CC}" type="presParOf" srcId="{9E7DFBBE-F2D6-C34B-A778-B38E75E00E8A}" destId="{22FC22D9-888F-734E-AB45-54066E4BE814}" srcOrd="2" destOrd="0" presId="urn:microsoft.com/office/officeart/2005/8/layout/process1"/>
    <dgm:cxn modelId="{D6853481-CBC4-C144-9D17-2F523F116A7E}" type="presParOf" srcId="{9E7DFBBE-F2D6-C34B-A778-B38E75E00E8A}" destId="{1DEF8428-3AAF-5D41-8B41-2158784B49EF}" srcOrd="3" destOrd="0" presId="urn:microsoft.com/office/officeart/2005/8/layout/process1"/>
    <dgm:cxn modelId="{522D2093-6AC2-4749-9467-9F7C1D7360B9}" type="presParOf" srcId="{1DEF8428-3AAF-5D41-8B41-2158784B49EF}" destId="{9F19B8C5-FF19-A041-AD18-7B0625A188FD}" srcOrd="0" destOrd="0" presId="urn:microsoft.com/office/officeart/2005/8/layout/process1"/>
    <dgm:cxn modelId="{623F0D92-2A51-6642-8E1E-22ECDDE36E50}" type="presParOf" srcId="{9E7DFBBE-F2D6-C34B-A778-B38E75E00E8A}" destId="{2D9C8208-3ED5-1640-9B1B-185F0EDBBF29}" srcOrd="4" destOrd="0" presId="urn:microsoft.com/office/officeart/2005/8/layout/process1"/>
    <dgm:cxn modelId="{C68FABC0-74E1-CB4E-A685-6510A9EDDA81}" type="presParOf" srcId="{9E7DFBBE-F2D6-C34B-A778-B38E75E00E8A}" destId="{18766D2F-2E93-1045-B54D-DCC8660D2107}" srcOrd="5" destOrd="0" presId="urn:microsoft.com/office/officeart/2005/8/layout/process1"/>
    <dgm:cxn modelId="{94FC8345-AEA9-E745-B098-E911367E51F2}" type="presParOf" srcId="{18766D2F-2E93-1045-B54D-DCC8660D2107}" destId="{E868145B-7945-874C-BE9D-2437238B442F}" srcOrd="0" destOrd="0" presId="urn:microsoft.com/office/officeart/2005/8/layout/process1"/>
    <dgm:cxn modelId="{4D69B2EE-2957-F240-AE41-223D0E75E628}" type="presParOf" srcId="{9E7DFBBE-F2D6-C34B-A778-B38E75E00E8A}" destId="{76DF492E-33AC-724E-8D9D-87902544441E}" srcOrd="6" destOrd="0" presId="urn:microsoft.com/office/officeart/2005/8/layout/process1"/>
    <dgm:cxn modelId="{86C1AC99-8753-C54A-8132-BB4D9B7B8578}" type="presParOf" srcId="{9E7DFBBE-F2D6-C34B-A778-B38E75E00E8A}" destId="{8EF55259-775D-FA4B-AD3B-675CEA7C9F00}" srcOrd="7" destOrd="0" presId="urn:microsoft.com/office/officeart/2005/8/layout/process1"/>
    <dgm:cxn modelId="{535B3C8C-4CFB-9C40-82E0-4A44DB919592}" type="presParOf" srcId="{8EF55259-775D-FA4B-AD3B-675CEA7C9F00}" destId="{D46B28EA-0E1C-404E-84F0-85842B4FE5C6}" srcOrd="0" destOrd="0" presId="urn:microsoft.com/office/officeart/2005/8/layout/process1"/>
    <dgm:cxn modelId="{1B9DBE4E-B3BD-5344-9947-E76C7FCEBA67}" type="presParOf" srcId="{9E7DFBBE-F2D6-C34B-A778-B38E75E00E8A}" destId="{D984FC9D-416E-4D44-8A69-80AEAC43BFAC}" srcOrd="8" destOrd="0" presId="urn:microsoft.com/office/officeart/2005/8/layout/process1"/>
    <dgm:cxn modelId="{B989D936-1127-B746-8B7A-BF8AFBF9C2AE}" type="presParOf" srcId="{9E7DFBBE-F2D6-C34B-A778-B38E75E00E8A}" destId="{67EFC97D-8067-1E49-A28E-83B2878C26CB}" srcOrd="9" destOrd="0" presId="urn:microsoft.com/office/officeart/2005/8/layout/process1"/>
    <dgm:cxn modelId="{03630A7F-9E48-314F-9524-80C88F960475}" type="presParOf" srcId="{67EFC97D-8067-1E49-A28E-83B2878C26CB}" destId="{E0273513-41A8-6749-882E-424B449AD627}" srcOrd="0" destOrd="0" presId="urn:microsoft.com/office/officeart/2005/8/layout/process1"/>
    <dgm:cxn modelId="{17EBCEB8-1D1F-104F-B3FD-02B197575C92}" type="presParOf" srcId="{9E7DFBBE-F2D6-C34B-A778-B38E75E00E8A}" destId="{178E6C5D-BB44-BC4E-B8FA-D7CB21F749D9}" srcOrd="10" destOrd="0" presId="urn:microsoft.com/office/officeart/2005/8/layout/process1"/>
    <dgm:cxn modelId="{9EBC47CD-0286-7B40-A86F-D33BDB51B044}" type="presParOf" srcId="{9E7DFBBE-F2D6-C34B-A778-B38E75E00E8A}" destId="{EA02CC48-F6CC-7E4F-8956-9C128AE2A0C3}" srcOrd="11" destOrd="0" presId="urn:microsoft.com/office/officeart/2005/8/layout/process1"/>
    <dgm:cxn modelId="{0B0BF158-51C0-D94D-A3D3-321F25D3FAD7}" type="presParOf" srcId="{EA02CC48-F6CC-7E4F-8956-9C128AE2A0C3}" destId="{A372F667-0B20-8C49-AF05-329D73968B83}" srcOrd="0" destOrd="0" presId="urn:microsoft.com/office/officeart/2005/8/layout/process1"/>
    <dgm:cxn modelId="{5A493903-C065-BD42-8DED-21C6E5613D4F}" type="presParOf" srcId="{9E7DFBBE-F2D6-C34B-A778-B38E75E00E8A}" destId="{6FD60E23-8595-BC42-80FE-E0CEEC824A2D}" srcOrd="12"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530A907-A95F-5144-ABF7-B0C1282FC1ED}"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AFACDF03-0EF9-E741-BEAF-FF7CA8B9ED15}">
      <dgm:prSet phldrT="[Text]" custT="1"/>
      <dgm:spPr>
        <a:solidFill>
          <a:srgbClr val="164142"/>
        </a:solidFill>
      </dgm:spPr>
      <dgm:t>
        <a:bodyPr/>
        <a:lstStyle/>
        <a:p>
          <a:r>
            <a:rPr lang="en-US" sz="3200" dirty="0">
              <a:solidFill>
                <a:schemeClr val="tx1"/>
              </a:solidFill>
            </a:rPr>
            <a:t>02. - 06.03.</a:t>
          </a:r>
        </a:p>
      </dgm:t>
    </dgm:pt>
    <dgm:pt modelId="{93E57FAE-93C3-2D48-AFF4-AA15BA5A0CC6}" type="parTrans" cxnId="{26A75BDA-0AA7-BF4C-BE9D-B4E9CF69CA3B}">
      <dgm:prSet/>
      <dgm:spPr/>
      <dgm:t>
        <a:bodyPr/>
        <a:lstStyle/>
        <a:p>
          <a:endParaRPr lang="en-US"/>
        </a:p>
      </dgm:t>
    </dgm:pt>
    <dgm:pt modelId="{CA158547-8895-234B-B54F-9B97E860D60A}" type="sibTrans" cxnId="{26A75BDA-0AA7-BF4C-BE9D-B4E9CF69CA3B}">
      <dgm:prSet/>
      <dgm:spPr>
        <a:solidFill>
          <a:schemeClr val="bg1">
            <a:alpha val="25000"/>
          </a:schemeClr>
        </a:solidFill>
      </dgm:spPr>
      <dgm:t>
        <a:bodyPr/>
        <a:lstStyle/>
        <a:p>
          <a:endParaRPr lang="en-US"/>
        </a:p>
      </dgm:t>
    </dgm:pt>
    <dgm:pt modelId="{819AC643-988B-864D-A989-DE15721C5964}">
      <dgm:prSet phldrT="[Text]" custT="1"/>
      <dgm:spPr>
        <a:solidFill>
          <a:schemeClr val="bg1">
            <a:alpha val="15000"/>
          </a:schemeClr>
        </a:solidFill>
        <a:ln>
          <a:solidFill>
            <a:schemeClr val="bg1"/>
          </a:solidFill>
        </a:ln>
      </dgm:spPr>
      <dgm:t>
        <a:bodyPr/>
        <a:lstStyle/>
        <a:p>
          <a:pPr algn="l">
            <a:buNone/>
          </a:pPr>
          <a:r>
            <a:rPr lang="en-US" sz="2400" dirty="0"/>
            <a:t>• Define project topic</a:t>
          </a:r>
          <a:endParaRPr lang="en-US" sz="2400" dirty="0">
            <a:solidFill>
              <a:schemeClr val="bg1"/>
            </a:solidFill>
          </a:endParaRPr>
        </a:p>
      </dgm:t>
    </dgm:pt>
    <dgm:pt modelId="{840318A2-DF7F-AC45-9261-37A794D3A1B7}" type="parTrans" cxnId="{0D4C7CC2-A11C-BE42-8B13-0FF619F1121F}">
      <dgm:prSet/>
      <dgm:spPr/>
      <dgm:t>
        <a:bodyPr/>
        <a:lstStyle/>
        <a:p>
          <a:endParaRPr lang="en-US"/>
        </a:p>
      </dgm:t>
    </dgm:pt>
    <dgm:pt modelId="{9AF5BECB-F195-7646-87D8-04522FCA9BBA}" type="sibTrans" cxnId="{0D4C7CC2-A11C-BE42-8B13-0FF619F1121F}">
      <dgm:prSet/>
      <dgm:spPr/>
      <dgm:t>
        <a:bodyPr/>
        <a:lstStyle/>
        <a:p>
          <a:endParaRPr lang="en-US"/>
        </a:p>
      </dgm:t>
    </dgm:pt>
    <dgm:pt modelId="{FB313FA8-A774-D344-9687-014E5E228E3A}">
      <dgm:prSet phldrT="[Text]" custT="1"/>
      <dgm:spPr>
        <a:solidFill>
          <a:srgbClr val="164142"/>
        </a:solidFill>
      </dgm:spPr>
      <dgm:t>
        <a:bodyPr/>
        <a:lstStyle/>
        <a:p>
          <a:r>
            <a:rPr lang="en-US" sz="3200" b="0" dirty="0">
              <a:solidFill>
                <a:schemeClr val="tx1"/>
              </a:solidFill>
            </a:rPr>
            <a:t>16. – 20.03.</a:t>
          </a:r>
        </a:p>
      </dgm:t>
    </dgm:pt>
    <dgm:pt modelId="{BB5BE0B4-C371-DC42-850D-CFD93EBFCB9D}" type="parTrans" cxnId="{6181A5D5-9438-D141-9E6E-252326EE3659}">
      <dgm:prSet/>
      <dgm:spPr/>
      <dgm:t>
        <a:bodyPr/>
        <a:lstStyle/>
        <a:p>
          <a:endParaRPr lang="en-US"/>
        </a:p>
      </dgm:t>
    </dgm:pt>
    <dgm:pt modelId="{13FCBDE0-D9B0-974B-A9DA-777B05FB1BF5}" type="sibTrans" cxnId="{6181A5D5-9438-D141-9E6E-252326EE3659}">
      <dgm:prSet/>
      <dgm:spPr>
        <a:solidFill>
          <a:schemeClr val="bg1">
            <a:alpha val="25000"/>
          </a:schemeClr>
        </a:solidFill>
      </dgm:spPr>
      <dgm:t>
        <a:bodyPr/>
        <a:lstStyle/>
        <a:p>
          <a:endParaRPr lang="en-US"/>
        </a:p>
      </dgm:t>
    </dgm:pt>
    <dgm:pt modelId="{3EE01C1A-D12D-AC47-A86F-0013B9D3E969}">
      <dgm:prSet phldrT="[Text]" custT="1"/>
      <dgm:spPr>
        <a:solidFill>
          <a:schemeClr val="bg1">
            <a:alpha val="15000"/>
          </a:schemeClr>
        </a:solidFill>
        <a:ln>
          <a:solidFill>
            <a:schemeClr val="bg1"/>
          </a:solidFill>
        </a:ln>
      </dgm:spPr>
      <dgm:t>
        <a:bodyPr/>
        <a:lstStyle/>
        <a:p>
          <a:pPr>
            <a:buNone/>
          </a:pPr>
          <a:r>
            <a:rPr lang="en-US" sz="2400" b="0" dirty="0">
              <a:solidFill>
                <a:schemeClr val="tx1"/>
              </a:solidFill>
            </a:rPr>
            <a:t>• Improve model performance</a:t>
          </a:r>
        </a:p>
      </dgm:t>
    </dgm:pt>
    <dgm:pt modelId="{F7E14852-9342-144F-8F8D-ED0132B765DC}" type="parTrans" cxnId="{9CABB152-4C0B-D340-ACCD-900F7D703D90}">
      <dgm:prSet/>
      <dgm:spPr/>
      <dgm:t>
        <a:bodyPr/>
        <a:lstStyle/>
        <a:p>
          <a:endParaRPr lang="en-US"/>
        </a:p>
      </dgm:t>
    </dgm:pt>
    <dgm:pt modelId="{A86DE9C6-AFF8-D345-8D0C-4396448A0289}" type="sibTrans" cxnId="{9CABB152-4C0B-D340-ACCD-900F7D703D90}">
      <dgm:prSet/>
      <dgm:spPr/>
      <dgm:t>
        <a:bodyPr/>
        <a:lstStyle/>
        <a:p>
          <a:endParaRPr lang="en-US"/>
        </a:p>
      </dgm:t>
    </dgm:pt>
    <dgm:pt modelId="{0A862AFF-B0EA-3D4F-A09A-EF563320162A}">
      <dgm:prSet phldrT="[Text]" custT="1"/>
      <dgm:spPr>
        <a:solidFill>
          <a:srgbClr val="164142"/>
        </a:solidFill>
      </dgm:spPr>
      <dgm:t>
        <a:bodyPr/>
        <a:lstStyle/>
        <a:p>
          <a:r>
            <a:rPr lang="en-US" sz="3200" dirty="0">
              <a:solidFill>
                <a:schemeClr val="tx1"/>
              </a:solidFill>
            </a:rPr>
            <a:t>23. – 27.03.</a:t>
          </a:r>
        </a:p>
      </dgm:t>
    </dgm:pt>
    <dgm:pt modelId="{F183084F-CEBF-4847-A9C7-D5D650368BF0}" type="parTrans" cxnId="{443E7AC7-AF22-5348-B57E-8A04768260FA}">
      <dgm:prSet/>
      <dgm:spPr/>
      <dgm:t>
        <a:bodyPr/>
        <a:lstStyle/>
        <a:p>
          <a:endParaRPr lang="en-US"/>
        </a:p>
      </dgm:t>
    </dgm:pt>
    <dgm:pt modelId="{220F6190-584C-EA40-BC09-9A65F1763990}" type="sibTrans" cxnId="{443E7AC7-AF22-5348-B57E-8A04768260FA}">
      <dgm:prSet/>
      <dgm:spPr/>
      <dgm:t>
        <a:bodyPr/>
        <a:lstStyle/>
        <a:p>
          <a:endParaRPr lang="en-US"/>
        </a:p>
      </dgm:t>
    </dgm:pt>
    <dgm:pt modelId="{16A33C05-C03B-DB40-8835-9E8B4386DADD}">
      <dgm:prSet phldrT="[Text]" custT="1"/>
      <dgm:spPr>
        <a:solidFill>
          <a:schemeClr val="bg1">
            <a:alpha val="15000"/>
          </a:schemeClr>
        </a:solidFill>
        <a:ln>
          <a:solidFill>
            <a:schemeClr val="bg1"/>
          </a:solidFill>
        </a:ln>
      </dgm:spPr>
      <dgm:t>
        <a:bodyPr/>
        <a:lstStyle/>
        <a:p>
          <a:pPr>
            <a:buNone/>
          </a:pPr>
          <a:r>
            <a:rPr lang="en-US" sz="2400" dirty="0"/>
            <a:t>• Hyperparameter tuning</a:t>
          </a:r>
          <a:endParaRPr lang="en-US" sz="2400" dirty="0">
            <a:solidFill>
              <a:schemeClr val="bg1"/>
            </a:solidFill>
          </a:endParaRPr>
        </a:p>
      </dgm:t>
    </dgm:pt>
    <dgm:pt modelId="{93BF922C-0B71-1841-8544-F27676DCF87E}" type="parTrans" cxnId="{5781DC63-824F-454C-A7F0-DD79B81F3FE7}">
      <dgm:prSet/>
      <dgm:spPr/>
      <dgm:t>
        <a:bodyPr/>
        <a:lstStyle/>
        <a:p>
          <a:endParaRPr lang="en-US"/>
        </a:p>
      </dgm:t>
    </dgm:pt>
    <dgm:pt modelId="{CCEEC130-D8CE-974C-9D88-C83141F382B3}" type="sibTrans" cxnId="{5781DC63-824F-454C-A7F0-DD79B81F3FE7}">
      <dgm:prSet/>
      <dgm:spPr/>
      <dgm:t>
        <a:bodyPr/>
        <a:lstStyle/>
        <a:p>
          <a:endParaRPr lang="en-US"/>
        </a:p>
      </dgm:t>
    </dgm:pt>
    <dgm:pt modelId="{EC81C776-4DE0-6D40-8167-DE3EF057AE31}">
      <dgm:prSet custT="1"/>
      <dgm:spPr>
        <a:solidFill>
          <a:srgbClr val="164142"/>
        </a:solidFill>
      </dgm:spPr>
      <dgm:t>
        <a:bodyPr/>
        <a:lstStyle/>
        <a:p>
          <a:r>
            <a:rPr lang="en-US" sz="3200" dirty="0">
              <a:solidFill>
                <a:schemeClr val="tx1"/>
              </a:solidFill>
            </a:rPr>
            <a:t>09. – 13.03.</a:t>
          </a:r>
        </a:p>
      </dgm:t>
    </dgm:pt>
    <dgm:pt modelId="{8FE696D7-5186-8C46-8FC3-55EC13C4A46A}" type="parTrans" cxnId="{EC0D515B-A312-F543-B52B-82933E48F176}">
      <dgm:prSet/>
      <dgm:spPr/>
      <dgm:t>
        <a:bodyPr/>
        <a:lstStyle/>
        <a:p>
          <a:endParaRPr lang="en-US"/>
        </a:p>
      </dgm:t>
    </dgm:pt>
    <dgm:pt modelId="{7688C6ED-2796-4C4C-94EF-A3DC52EE855F}" type="sibTrans" cxnId="{EC0D515B-A312-F543-B52B-82933E48F176}">
      <dgm:prSet/>
      <dgm:spPr>
        <a:solidFill>
          <a:schemeClr val="bg1">
            <a:alpha val="25000"/>
          </a:schemeClr>
        </a:solidFill>
      </dgm:spPr>
      <dgm:t>
        <a:bodyPr/>
        <a:lstStyle/>
        <a:p>
          <a:endParaRPr lang="en-US"/>
        </a:p>
      </dgm:t>
    </dgm:pt>
    <dgm:pt modelId="{250F3458-224B-D948-8FDA-DDED79F16047}">
      <dgm:prSet custT="1"/>
      <dgm:spPr>
        <a:solidFill>
          <a:schemeClr val="bg1">
            <a:alpha val="15000"/>
          </a:schemeClr>
        </a:solidFill>
        <a:ln>
          <a:solidFill>
            <a:schemeClr val="bg1"/>
          </a:solidFill>
        </a:ln>
      </dgm:spPr>
      <dgm:t>
        <a:bodyPr/>
        <a:lstStyle/>
        <a:p>
          <a:pPr>
            <a:buNone/>
          </a:pPr>
          <a:r>
            <a:rPr lang="en-US" sz="2400" dirty="0"/>
            <a:t>• Exploratory Data Analysis (EDA)</a:t>
          </a:r>
        </a:p>
      </dgm:t>
    </dgm:pt>
    <dgm:pt modelId="{3FC6050A-8396-C947-9C69-3593772F0BF9}" type="parTrans" cxnId="{F03CDAA7-C463-8F44-8E84-0B7757DC1080}">
      <dgm:prSet/>
      <dgm:spPr/>
      <dgm:t>
        <a:bodyPr/>
        <a:lstStyle/>
        <a:p>
          <a:endParaRPr lang="en-US"/>
        </a:p>
      </dgm:t>
    </dgm:pt>
    <dgm:pt modelId="{775DF872-06D1-C34C-9CAB-8E8654B095DB}" type="sibTrans" cxnId="{F03CDAA7-C463-8F44-8E84-0B7757DC1080}">
      <dgm:prSet/>
      <dgm:spPr/>
      <dgm:t>
        <a:bodyPr/>
        <a:lstStyle/>
        <a:p>
          <a:endParaRPr lang="en-US"/>
        </a:p>
      </dgm:t>
    </dgm:pt>
    <dgm:pt modelId="{3909515E-BEAC-D846-A381-6D361705D19A}">
      <dgm:prSet custT="1"/>
      <dgm:spPr/>
      <dgm:t>
        <a:bodyPr/>
        <a:lstStyle/>
        <a:p>
          <a:pPr>
            <a:buNone/>
          </a:pPr>
          <a:r>
            <a:rPr lang="en-US" sz="2400"/>
            <a:t>• Identify business problem</a:t>
          </a:r>
        </a:p>
      </dgm:t>
    </dgm:pt>
    <dgm:pt modelId="{3FC35658-162D-D743-A430-36523880D43F}" type="parTrans" cxnId="{A845356A-0745-5E40-AE3A-78FADB317CCA}">
      <dgm:prSet/>
      <dgm:spPr/>
      <dgm:t>
        <a:bodyPr/>
        <a:lstStyle/>
        <a:p>
          <a:endParaRPr lang="en-US"/>
        </a:p>
      </dgm:t>
    </dgm:pt>
    <dgm:pt modelId="{9317FF41-735C-0341-8F69-24C3F67ADB27}" type="sibTrans" cxnId="{A845356A-0745-5E40-AE3A-78FADB317CCA}">
      <dgm:prSet/>
      <dgm:spPr/>
      <dgm:t>
        <a:bodyPr/>
        <a:lstStyle/>
        <a:p>
          <a:endParaRPr lang="en-US"/>
        </a:p>
      </dgm:t>
    </dgm:pt>
    <dgm:pt modelId="{7695B1F2-BD02-094E-967D-7F2F18074C7D}">
      <dgm:prSet custT="1"/>
      <dgm:spPr/>
      <dgm:t>
        <a:bodyPr/>
        <a:lstStyle/>
        <a:p>
          <a:pPr>
            <a:buNone/>
          </a:pPr>
          <a:r>
            <a:rPr lang="en-US" sz="2400" dirty="0"/>
            <a:t>• Select and understand dataset</a:t>
          </a:r>
        </a:p>
      </dgm:t>
    </dgm:pt>
    <dgm:pt modelId="{F56EFAFF-DCE1-1C48-AA6C-FB68FF9DCFFF}" type="parTrans" cxnId="{E84911C4-0EF5-5B45-B847-C1599DB7BE2F}">
      <dgm:prSet/>
      <dgm:spPr/>
      <dgm:t>
        <a:bodyPr/>
        <a:lstStyle/>
        <a:p>
          <a:endParaRPr lang="en-US"/>
        </a:p>
      </dgm:t>
    </dgm:pt>
    <dgm:pt modelId="{66D96DCF-01CB-2E43-8201-D145567F0D87}" type="sibTrans" cxnId="{E84911C4-0EF5-5B45-B847-C1599DB7BE2F}">
      <dgm:prSet/>
      <dgm:spPr/>
      <dgm:t>
        <a:bodyPr/>
        <a:lstStyle/>
        <a:p>
          <a:endParaRPr lang="en-US"/>
        </a:p>
      </dgm:t>
    </dgm:pt>
    <dgm:pt modelId="{D056856C-948C-B545-A667-FBC470D92013}">
      <dgm:prSet custT="1"/>
      <dgm:spPr>
        <a:solidFill>
          <a:schemeClr val="bg1">
            <a:alpha val="15000"/>
          </a:schemeClr>
        </a:solidFill>
        <a:ln>
          <a:solidFill>
            <a:schemeClr val="bg1"/>
          </a:solidFill>
        </a:ln>
      </dgm:spPr>
      <dgm:t>
        <a:bodyPr/>
        <a:lstStyle/>
        <a:p>
          <a:pPr>
            <a:buNone/>
          </a:pPr>
          <a:r>
            <a:rPr lang="en-US" sz="2400"/>
            <a:t>• Feature preparation</a:t>
          </a:r>
        </a:p>
      </dgm:t>
    </dgm:pt>
    <dgm:pt modelId="{92736D4E-780D-584D-88AC-FE4041B41026}" type="parTrans" cxnId="{BFA1995A-98C4-4943-B780-3F002F72B426}">
      <dgm:prSet/>
      <dgm:spPr/>
      <dgm:t>
        <a:bodyPr/>
        <a:lstStyle/>
        <a:p>
          <a:endParaRPr lang="en-US"/>
        </a:p>
      </dgm:t>
    </dgm:pt>
    <dgm:pt modelId="{824BB0B5-398B-8543-A729-B11EC14F64D5}" type="sibTrans" cxnId="{BFA1995A-98C4-4943-B780-3F002F72B426}">
      <dgm:prSet/>
      <dgm:spPr/>
      <dgm:t>
        <a:bodyPr/>
        <a:lstStyle/>
        <a:p>
          <a:endParaRPr lang="en-US"/>
        </a:p>
      </dgm:t>
    </dgm:pt>
    <dgm:pt modelId="{7146A2DE-0C21-E94B-8D2F-1E5963D1FB58}">
      <dgm:prSet custT="1"/>
      <dgm:spPr>
        <a:solidFill>
          <a:schemeClr val="bg1">
            <a:alpha val="15000"/>
          </a:schemeClr>
        </a:solidFill>
        <a:ln>
          <a:solidFill>
            <a:schemeClr val="bg1"/>
          </a:solidFill>
        </a:ln>
      </dgm:spPr>
      <dgm:t>
        <a:bodyPr/>
        <a:lstStyle/>
        <a:p>
          <a:pPr>
            <a:buNone/>
          </a:pPr>
          <a:r>
            <a:rPr lang="en-US" sz="2400" dirty="0"/>
            <a:t>• Train and evaluate ML models</a:t>
          </a:r>
        </a:p>
      </dgm:t>
    </dgm:pt>
    <dgm:pt modelId="{701FECEF-4870-1444-9891-F06A8D309FB4}" type="parTrans" cxnId="{B72CB86C-4B24-7245-9927-A313126E3C24}">
      <dgm:prSet/>
      <dgm:spPr/>
      <dgm:t>
        <a:bodyPr/>
        <a:lstStyle/>
        <a:p>
          <a:endParaRPr lang="en-US"/>
        </a:p>
      </dgm:t>
    </dgm:pt>
    <dgm:pt modelId="{1A2099BC-2371-0044-9081-1AA9FF1C2B01}" type="sibTrans" cxnId="{B72CB86C-4B24-7245-9927-A313126E3C24}">
      <dgm:prSet/>
      <dgm:spPr/>
      <dgm:t>
        <a:bodyPr/>
        <a:lstStyle/>
        <a:p>
          <a:endParaRPr lang="en-US"/>
        </a:p>
      </dgm:t>
    </dgm:pt>
    <dgm:pt modelId="{26116A36-4C8A-8F4F-A5A2-9F6C8BB3C62B}">
      <dgm:prSet custT="1"/>
      <dgm:spPr/>
      <dgm:t>
        <a:bodyPr/>
        <a:lstStyle/>
        <a:p>
          <a:pPr>
            <a:buNone/>
          </a:pPr>
          <a:r>
            <a:rPr lang="en-US" sz="2400" b="0" dirty="0">
              <a:solidFill>
                <a:schemeClr val="tx1"/>
              </a:solidFill>
            </a:rPr>
            <a:t>• Build Artificial Neural Network (ANN)</a:t>
          </a:r>
        </a:p>
      </dgm:t>
    </dgm:pt>
    <dgm:pt modelId="{9AC86726-5708-B846-B9AE-E6F424AD3BB1}" type="parTrans" cxnId="{830C8C24-0022-6F41-BCED-31D773458C67}">
      <dgm:prSet/>
      <dgm:spPr/>
      <dgm:t>
        <a:bodyPr/>
        <a:lstStyle/>
        <a:p>
          <a:endParaRPr lang="en-US"/>
        </a:p>
      </dgm:t>
    </dgm:pt>
    <dgm:pt modelId="{F9F63583-F40B-7C44-B589-4CFE9A3ABBB7}" type="sibTrans" cxnId="{830C8C24-0022-6F41-BCED-31D773458C67}">
      <dgm:prSet/>
      <dgm:spPr/>
      <dgm:t>
        <a:bodyPr/>
        <a:lstStyle/>
        <a:p>
          <a:endParaRPr lang="en-US"/>
        </a:p>
      </dgm:t>
    </dgm:pt>
    <dgm:pt modelId="{C452F5D9-A5C0-F742-B16D-399796DBBFAC}">
      <dgm:prSet custT="1"/>
      <dgm:spPr/>
      <dgm:t>
        <a:bodyPr/>
        <a:lstStyle/>
        <a:p>
          <a:pPr>
            <a:buNone/>
          </a:pPr>
          <a:r>
            <a:rPr lang="en-US" sz="2400" b="0" dirty="0">
              <a:solidFill>
                <a:schemeClr val="tx1"/>
              </a:solidFill>
            </a:rPr>
            <a:t>• Explore additional insights</a:t>
          </a:r>
        </a:p>
      </dgm:t>
    </dgm:pt>
    <dgm:pt modelId="{E3A8781B-E5EA-8249-9FC3-31C53FDC9E5D}" type="parTrans" cxnId="{4826A55B-C383-F643-8368-89AB67D3A159}">
      <dgm:prSet/>
      <dgm:spPr/>
      <dgm:t>
        <a:bodyPr/>
        <a:lstStyle/>
        <a:p>
          <a:endParaRPr lang="en-US"/>
        </a:p>
      </dgm:t>
    </dgm:pt>
    <dgm:pt modelId="{98A76A2B-5C0B-3745-B0AA-8ABFA4C005A7}" type="sibTrans" cxnId="{4826A55B-C383-F643-8368-89AB67D3A159}">
      <dgm:prSet/>
      <dgm:spPr/>
      <dgm:t>
        <a:bodyPr/>
        <a:lstStyle/>
        <a:p>
          <a:endParaRPr lang="en-US"/>
        </a:p>
      </dgm:t>
    </dgm:pt>
    <dgm:pt modelId="{E831C732-6606-574E-82A6-D35B95C2A7E4}">
      <dgm:prSet custT="1"/>
      <dgm:spPr/>
      <dgm:t>
        <a:bodyPr/>
        <a:lstStyle/>
        <a:p>
          <a:pPr>
            <a:buNone/>
          </a:pPr>
          <a:r>
            <a:rPr lang="en-US" sz="2400"/>
            <a:t>• Final model evaluation</a:t>
          </a:r>
        </a:p>
      </dgm:t>
    </dgm:pt>
    <dgm:pt modelId="{B1290421-8067-D34C-8F43-E350D1CCF03A}" type="parTrans" cxnId="{C38F9FD6-80BB-3D4B-A81A-157DBE2E4BDC}">
      <dgm:prSet/>
      <dgm:spPr/>
      <dgm:t>
        <a:bodyPr/>
        <a:lstStyle/>
        <a:p>
          <a:endParaRPr lang="en-US"/>
        </a:p>
      </dgm:t>
    </dgm:pt>
    <dgm:pt modelId="{84E04CE1-284E-184A-B0BA-6FE332348338}" type="sibTrans" cxnId="{C38F9FD6-80BB-3D4B-A81A-157DBE2E4BDC}">
      <dgm:prSet/>
      <dgm:spPr/>
      <dgm:t>
        <a:bodyPr/>
        <a:lstStyle/>
        <a:p>
          <a:endParaRPr lang="en-US"/>
        </a:p>
      </dgm:t>
    </dgm:pt>
    <dgm:pt modelId="{E80D3C88-060E-4947-9CEE-0427ACB563DD}">
      <dgm:prSet custT="1"/>
      <dgm:spPr/>
      <dgm:t>
        <a:bodyPr/>
        <a:lstStyle/>
        <a:p>
          <a:pPr>
            <a:buNone/>
          </a:pPr>
          <a:r>
            <a:rPr lang="en-US" sz="2400" dirty="0"/>
            <a:t>• Prepare presentation &amp; documentation</a:t>
          </a:r>
        </a:p>
      </dgm:t>
    </dgm:pt>
    <dgm:pt modelId="{661CBD34-7045-C945-8349-91514EFF0AB6}" type="parTrans" cxnId="{2976B9D9-B058-094E-B194-9802231D66BF}">
      <dgm:prSet/>
      <dgm:spPr/>
      <dgm:t>
        <a:bodyPr/>
        <a:lstStyle/>
        <a:p>
          <a:endParaRPr lang="en-US"/>
        </a:p>
      </dgm:t>
    </dgm:pt>
    <dgm:pt modelId="{80A044FD-768F-2A44-8E96-F849DDBBF58C}" type="sibTrans" cxnId="{2976B9D9-B058-094E-B194-9802231D66BF}">
      <dgm:prSet/>
      <dgm:spPr/>
      <dgm:t>
        <a:bodyPr/>
        <a:lstStyle/>
        <a:p>
          <a:endParaRPr lang="en-US"/>
        </a:p>
      </dgm:t>
    </dgm:pt>
    <dgm:pt modelId="{F5E7DF40-9FEB-EE4B-AE60-9D8E5FDA57F4}" type="pres">
      <dgm:prSet presAssocID="{2530A907-A95F-5144-ABF7-B0C1282FC1ED}" presName="Name0" presStyleCnt="0">
        <dgm:presLayoutVars>
          <dgm:dir/>
          <dgm:animLvl val="lvl"/>
          <dgm:resizeHandles val="exact"/>
        </dgm:presLayoutVars>
      </dgm:prSet>
      <dgm:spPr/>
    </dgm:pt>
    <dgm:pt modelId="{25BE328B-C083-144B-BB5C-3F105D3EEDE3}" type="pres">
      <dgm:prSet presAssocID="{2530A907-A95F-5144-ABF7-B0C1282FC1ED}" presName="tSp" presStyleCnt="0"/>
      <dgm:spPr/>
    </dgm:pt>
    <dgm:pt modelId="{ED303634-C0C0-CC4F-87B5-DE85373B5C96}" type="pres">
      <dgm:prSet presAssocID="{2530A907-A95F-5144-ABF7-B0C1282FC1ED}" presName="bSp" presStyleCnt="0"/>
      <dgm:spPr/>
    </dgm:pt>
    <dgm:pt modelId="{B118FA7E-B58C-1549-9119-0FE472E62D08}" type="pres">
      <dgm:prSet presAssocID="{2530A907-A95F-5144-ABF7-B0C1282FC1ED}" presName="process" presStyleCnt="0"/>
      <dgm:spPr/>
    </dgm:pt>
    <dgm:pt modelId="{AB8E3EAA-B86D-9A4C-A6F3-E03F98378C7D}" type="pres">
      <dgm:prSet presAssocID="{AFACDF03-0EF9-E741-BEAF-FF7CA8B9ED15}" presName="composite1" presStyleCnt="0"/>
      <dgm:spPr/>
    </dgm:pt>
    <dgm:pt modelId="{03BB0F26-575E-0D4A-98F4-E708D3968D8B}" type="pres">
      <dgm:prSet presAssocID="{AFACDF03-0EF9-E741-BEAF-FF7CA8B9ED15}" presName="dummyNode1" presStyleLbl="node1" presStyleIdx="0" presStyleCnt="4"/>
      <dgm:spPr/>
    </dgm:pt>
    <dgm:pt modelId="{61A6962B-CE88-504C-9817-AED61C44C207}" type="pres">
      <dgm:prSet presAssocID="{AFACDF03-0EF9-E741-BEAF-FF7CA8B9ED15}" presName="childNode1" presStyleLbl="bgAcc1" presStyleIdx="0" presStyleCnt="4">
        <dgm:presLayoutVars>
          <dgm:bulletEnabled val="1"/>
        </dgm:presLayoutVars>
      </dgm:prSet>
      <dgm:spPr/>
    </dgm:pt>
    <dgm:pt modelId="{5F464BD9-9316-7D48-9FA3-5A0B50C3A6AE}" type="pres">
      <dgm:prSet presAssocID="{AFACDF03-0EF9-E741-BEAF-FF7CA8B9ED15}" presName="childNode1tx" presStyleLbl="bgAcc1" presStyleIdx="0" presStyleCnt="4">
        <dgm:presLayoutVars>
          <dgm:bulletEnabled val="1"/>
        </dgm:presLayoutVars>
      </dgm:prSet>
      <dgm:spPr/>
    </dgm:pt>
    <dgm:pt modelId="{3C7456C5-302C-8948-9AFD-6587B8915138}" type="pres">
      <dgm:prSet presAssocID="{AFACDF03-0EF9-E741-BEAF-FF7CA8B9ED15}" presName="parentNode1" presStyleLbl="node1" presStyleIdx="0" presStyleCnt="4">
        <dgm:presLayoutVars>
          <dgm:chMax val="1"/>
          <dgm:bulletEnabled val="1"/>
        </dgm:presLayoutVars>
      </dgm:prSet>
      <dgm:spPr/>
    </dgm:pt>
    <dgm:pt modelId="{4BBDB0EC-9B56-CF49-98D3-9D26BB548294}" type="pres">
      <dgm:prSet presAssocID="{AFACDF03-0EF9-E741-BEAF-FF7CA8B9ED15}" presName="connSite1" presStyleCnt="0"/>
      <dgm:spPr/>
    </dgm:pt>
    <dgm:pt modelId="{6CDF25D4-B16D-484B-9B0E-72A4D71ADA03}" type="pres">
      <dgm:prSet presAssocID="{CA158547-8895-234B-B54F-9B97E860D60A}" presName="Name9" presStyleLbl="sibTrans2D1" presStyleIdx="0" presStyleCnt="3"/>
      <dgm:spPr/>
    </dgm:pt>
    <dgm:pt modelId="{B4955D08-2AA2-7144-A441-0BF7B5CAC9B9}" type="pres">
      <dgm:prSet presAssocID="{EC81C776-4DE0-6D40-8167-DE3EF057AE31}" presName="composite2" presStyleCnt="0"/>
      <dgm:spPr/>
    </dgm:pt>
    <dgm:pt modelId="{D7B148FD-4499-E544-BEBA-B17E9A684437}" type="pres">
      <dgm:prSet presAssocID="{EC81C776-4DE0-6D40-8167-DE3EF057AE31}" presName="dummyNode2" presStyleLbl="node1" presStyleIdx="0" presStyleCnt="4"/>
      <dgm:spPr/>
    </dgm:pt>
    <dgm:pt modelId="{561CB112-0EEC-2A4E-99BC-B43712728A33}" type="pres">
      <dgm:prSet presAssocID="{EC81C776-4DE0-6D40-8167-DE3EF057AE31}" presName="childNode2" presStyleLbl="bgAcc1" presStyleIdx="1" presStyleCnt="4" custLinFactNeighborX="-233">
        <dgm:presLayoutVars>
          <dgm:bulletEnabled val="1"/>
        </dgm:presLayoutVars>
      </dgm:prSet>
      <dgm:spPr/>
    </dgm:pt>
    <dgm:pt modelId="{63DF934B-1E33-A843-BB8E-D554CA36969A}" type="pres">
      <dgm:prSet presAssocID="{EC81C776-4DE0-6D40-8167-DE3EF057AE31}" presName="childNode2tx" presStyleLbl="bgAcc1" presStyleIdx="1" presStyleCnt="4">
        <dgm:presLayoutVars>
          <dgm:bulletEnabled val="1"/>
        </dgm:presLayoutVars>
      </dgm:prSet>
      <dgm:spPr/>
    </dgm:pt>
    <dgm:pt modelId="{124DE984-8EA0-A249-A31E-20410F52BA6E}" type="pres">
      <dgm:prSet presAssocID="{EC81C776-4DE0-6D40-8167-DE3EF057AE31}" presName="parentNode2" presStyleLbl="node1" presStyleIdx="1" presStyleCnt="4">
        <dgm:presLayoutVars>
          <dgm:chMax val="0"/>
          <dgm:bulletEnabled val="1"/>
        </dgm:presLayoutVars>
      </dgm:prSet>
      <dgm:spPr/>
    </dgm:pt>
    <dgm:pt modelId="{32261E2B-7C3A-2344-A0EB-09FE03488B77}" type="pres">
      <dgm:prSet presAssocID="{EC81C776-4DE0-6D40-8167-DE3EF057AE31}" presName="connSite2" presStyleCnt="0"/>
      <dgm:spPr/>
    </dgm:pt>
    <dgm:pt modelId="{16EC59B3-54CE-D64C-932D-9C9182577AA4}" type="pres">
      <dgm:prSet presAssocID="{7688C6ED-2796-4C4C-94EF-A3DC52EE855F}" presName="Name18" presStyleLbl="sibTrans2D1" presStyleIdx="1" presStyleCnt="3"/>
      <dgm:spPr/>
    </dgm:pt>
    <dgm:pt modelId="{233D92B5-E1FE-464E-B2CD-9AAEDBD7649D}" type="pres">
      <dgm:prSet presAssocID="{FB313FA8-A774-D344-9687-014E5E228E3A}" presName="composite1" presStyleCnt="0"/>
      <dgm:spPr/>
    </dgm:pt>
    <dgm:pt modelId="{B3041D16-6B20-B543-BD1F-C2980830A5CB}" type="pres">
      <dgm:prSet presAssocID="{FB313FA8-A774-D344-9687-014E5E228E3A}" presName="dummyNode1" presStyleLbl="node1" presStyleIdx="1" presStyleCnt="4"/>
      <dgm:spPr/>
    </dgm:pt>
    <dgm:pt modelId="{42BAD36B-7E47-6941-93CE-8995758E5339}" type="pres">
      <dgm:prSet presAssocID="{FB313FA8-A774-D344-9687-014E5E228E3A}" presName="childNode1" presStyleLbl="bgAcc1" presStyleIdx="2" presStyleCnt="4">
        <dgm:presLayoutVars>
          <dgm:bulletEnabled val="1"/>
        </dgm:presLayoutVars>
      </dgm:prSet>
      <dgm:spPr/>
    </dgm:pt>
    <dgm:pt modelId="{90357B8F-FD93-E446-BF28-D2E3B8D0413D}" type="pres">
      <dgm:prSet presAssocID="{FB313FA8-A774-D344-9687-014E5E228E3A}" presName="childNode1tx" presStyleLbl="bgAcc1" presStyleIdx="2" presStyleCnt="4">
        <dgm:presLayoutVars>
          <dgm:bulletEnabled val="1"/>
        </dgm:presLayoutVars>
      </dgm:prSet>
      <dgm:spPr/>
    </dgm:pt>
    <dgm:pt modelId="{4EF36796-263C-524B-962E-A07D4679EECC}" type="pres">
      <dgm:prSet presAssocID="{FB313FA8-A774-D344-9687-014E5E228E3A}" presName="parentNode1" presStyleLbl="node1" presStyleIdx="2" presStyleCnt="4">
        <dgm:presLayoutVars>
          <dgm:chMax val="1"/>
          <dgm:bulletEnabled val="1"/>
        </dgm:presLayoutVars>
      </dgm:prSet>
      <dgm:spPr/>
    </dgm:pt>
    <dgm:pt modelId="{F4DACAE4-BE02-C64F-A166-6D8C024E5AB5}" type="pres">
      <dgm:prSet presAssocID="{FB313FA8-A774-D344-9687-014E5E228E3A}" presName="connSite1" presStyleCnt="0"/>
      <dgm:spPr/>
    </dgm:pt>
    <dgm:pt modelId="{990F384A-9F73-0D46-B441-B211B77B5987}" type="pres">
      <dgm:prSet presAssocID="{13FCBDE0-D9B0-974B-A9DA-777B05FB1BF5}" presName="Name9" presStyleLbl="sibTrans2D1" presStyleIdx="2" presStyleCnt="3"/>
      <dgm:spPr/>
    </dgm:pt>
    <dgm:pt modelId="{8861B59D-9D9A-B34E-94F4-4319F7A64A20}" type="pres">
      <dgm:prSet presAssocID="{0A862AFF-B0EA-3D4F-A09A-EF563320162A}" presName="composite2" presStyleCnt="0"/>
      <dgm:spPr/>
    </dgm:pt>
    <dgm:pt modelId="{44B27268-817A-794B-99C4-68B6E32FE643}" type="pres">
      <dgm:prSet presAssocID="{0A862AFF-B0EA-3D4F-A09A-EF563320162A}" presName="dummyNode2" presStyleLbl="node1" presStyleIdx="2" presStyleCnt="4"/>
      <dgm:spPr/>
    </dgm:pt>
    <dgm:pt modelId="{85A26346-3243-0F4B-94C9-DC9FFA417964}" type="pres">
      <dgm:prSet presAssocID="{0A862AFF-B0EA-3D4F-A09A-EF563320162A}" presName="childNode2" presStyleLbl="bgAcc1" presStyleIdx="3" presStyleCnt="4">
        <dgm:presLayoutVars>
          <dgm:bulletEnabled val="1"/>
        </dgm:presLayoutVars>
      </dgm:prSet>
      <dgm:spPr/>
    </dgm:pt>
    <dgm:pt modelId="{62502954-F004-0349-94C4-F2F3C1E8DFD2}" type="pres">
      <dgm:prSet presAssocID="{0A862AFF-B0EA-3D4F-A09A-EF563320162A}" presName="childNode2tx" presStyleLbl="bgAcc1" presStyleIdx="3" presStyleCnt="4">
        <dgm:presLayoutVars>
          <dgm:bulletEnabled val="1"/>
        </dgm:presLayoutVars>
      </dgm:prSet>
      <dgm:spPr/>
    </dgm:pt>
    <dgm:pt modelId="{64CA2EE3-6660-B343-9D15-1154321A45EF}" type="pres">
      <dgm:prSet presAssocID="{0A862AFF-B0EA-3D4F-A09A-EF563320162A}" presName="parentNode2" presStyleLbl="node1" presStyleIdx="3" presStyleCnt="4">
        <dgm:presLayoutVars>
          <dgm:chMax val="0"/>
          <dgm:bulletEnabled val="1"/>
        </dgm:presLayoutVars>
      </dgm:prSet>
      <dgm:spPr/>
    </dgm:pt>
    <dgm:pt modelId="{01A38C5A-273E-664A-84F9-E884251C9BAB}" type="pres">
      <dgm:prSet presAssocID="{0A862AFF-B0EA-3D4F-A09A-EF563320162A}" presName="connSite2" presStyleCnt="0"/>
      <dgm:spPr/>
    </dgm:pt>
  </dgm:ptLst>
  <dgm:cxnLst>
    <dgm:cxn modelId="{99609B07-1C81-7F45-8A3A-B147F2E6FD80}" type="presOf" srcId="{E831C732-6606-574E-82A6-D35B95C2A7E4}" destId="{62502954-F004-0349-94C4-F2F3C1E8DFD2}" srcOrd="1" destOrd="1" presId="urn:microsoft.com/office/officeart/2005/8/layout/hProcess4"/>
    <dgm:cxn modelId="{93E60C0B-FBE3-3F44-A2CC-31A54C7B696A}" type="presOf" srcId="{3909515E-BEAC-D846-A381-6D361705D19A}" destId="{5F464BD9-9316-7D48-9FA3-5A0B50C3A6AE}" srcOrd="1" destOrd="1" presId="urn:microsoft.com/office/officeart/2005/8/layout/hProcess4"/>
    <dgm:cxn modelId="{6C13AD0F-EA5E-B444-9CDD-2A263F83218D}" type="presOf" srcId="{7688C6ED-2796-4C4C-94EF-A3DC52EE855F}" destId="{16EC59B3-54CE-D64C-932D-9C9182577AA4}" srcOrd="0" destOrd="0" presId="urn:microsoft.com/office/officeart/2005/8/layout/hProcess4"/>
    <dgm:cxn modelId="{05C03D12-3474-6E44-8CB8-7D986327EC5B}" type="presOf" srcId="{819AC643-988B-864D-A989-DE15721C5964}" destId="{5F464BD9-9316-7D48-9FA3-5A0B50C3A6AE}" srcOrd="1" destOrd="0" presId="urn:microsoft.com/office/officeart/2005/8/layout/hProcess4"/>
    <dgm:cxn modelId="{C7125417-9322-8840-8B6F-A7829F3899CF}" type="presOf" srcId="{16A33C05-C03B-DB40-8835-9E8B4386DADD}" destId="{62502954-F004-0349-94C4-F2F3C1E8DFD2}" srcOrd="1" destOrd="0" presId="urn:microsoft.com/office/officeart/2005/8/layout/hProcess4"/>
    <dgm:cxn modelId="{67F0DA19-09B0-E64E-89C2-19AC8908EF72}" type="presOf" srcId="{250F3458-224B-D948-8FDA-DDED79F16047}" destId="{63DF934B-1E33-A843-BB8E-D554CA36969A}" srcOrd="1" destOrd="0" presId="urn:microsoft.com/office/officeart/2005/8/layout/hProcess4"/>
    <dgm:cxn modelId="{830C8C24-0022-6F41-BCED-31D773458C67}" srcId="{FB313FA8-A774-D344-9687-014E5E228E3A}" destId="{26116A36-4C8A-8F4F-A5A2-9F6C8BB3C62B}" srcOrd="1" destOrd="0" parTransId="{9AC86726-5708-B846-B9AE-E6F424AD3BB1}" sibTransId="{F9F63583-F40B-7C44-B589-4CFE9A3ABBB7}"/>
    <dgm:cxn modelId="{08191C30-084D-BD4B-B0BE-B649125FDD0B}" type="presOf" srcId="{250F3458-224B-D948-8FDA-DDED79F16047}" destId="{561CB112-0EEC-2A4E-99BC-B43712728A33}" srcOrd="0" destOrd="0" presId="urn:microsoft.com/office/officeart/2005/8/layout/hProcess4"/>
    <dgm:cxn modelId="{6BB8D240-E86A-8B48-8679-D28B84B23ED9}" type="presOf" srcId="{7695B1F2-BD02-094E-967D-7F2F18074C7D}" destId="{61A6962B-CE88-504C-9817-AED61C44C207}" srcOrd="0" destOrd="2" presId="urn:microsoft.com/office/officeart/2005/8/layout/hProcess4"/>
    <dgm:cxn modelId="{5963D845-A47E-4148-A76F-B941F758C6F7}" type="presOf" srcId="{26116A36-4C8A-8F4F-A5A2-9F6C8BB3C62B}" destId="{90357B8F-FD93-E446-BF28-D2E3B8D0413D}" srcOrd="1" destOrd="1" presId="urn:microsoft.com/office/officeart/2005/8/layout/hProcess4"/>
    <dgm:cxn modelId="{9CABB152-4C0B-D340-ACCD-900F7D703D90}" srcId="{FB313FA8-A774-D344-9687-014E5E228E3A}" destId="{3EE01C1A-D12D-AC47-A86F-0013B9D3E969}" srcOrd="0" destOrd="0" parTransId="{F7E14852-9342-144F-8F8D-ED0132B765DC}" sibTransId="{A86DE9C6-AFF8-D345-8D0C-4396448A0289}"/>
    <dgm:cxn modelId="{A26FE154-F6F1-1142-BE83-33CDBC1052D3}" type="presOf" srcId="{7695B1F2-BD02-094E-967D-7F2F18074C7D}" destId="{5F464BD9-9316-7D48-9FA3-5A0B50C3A6AE}" srcOrd="1" destOrd="2" presId="urn:microsoft.com/office/officeart/2005/8/layout/hProcess4"/>
    <dgm:cxn modelId="{BFA1995A-98C4-4943-B780-3F002F72B426}" srcId="{EC81C776-4DE0-6D40-8167-DE3EF057AE31}" destId="{D056856C-948C-B545-A667-FBC470D92013}" srcOrd="1" destOrd="0" parTransId="{92736D4E-780D-584D-88AC-FE4041B41026}" sibTransId="{824BB0B5-398B-8543-A729-B11EC14F64D5}"/>
    <dgm:cxn modelId="{EC0D515B-A312-F543-B52B-82933E48F176}" srcId="{2530A907-A95F-5144-ABF7-B0C1282FC1ED}" destId="{EC81C776-4DE0-6D40-8167-DE3EF057AE31}" srcOrd="1" destOrd="0" parTransId="{8FE696D7-5186-8C46-8FC3-55EC13C4A46A}" sibTransId="{7688C6ED-2796-4C4C-94EF-A3DC52EE855F}"/>
    <dgm:cxn modelId="{4826A55B-C383-F643-8368-89AB67D3A159}" srcId="{FB313FA8-A774-D344-9687-014E5E228E3A}" destId="{C452F5D9-A5C0-F742-B16D-399796DBBFAC}" srcOrd="2" destOrd="0" parTransId="{E3A8781B-E5EA-8249-9FC3-31C53FDC9E5D}" sibTransId="{98A76A2B-5C0B-3745-B0AA-8ABFA4C005A7}"/>
    <dgm:cxn modelId="{5781DC63-824F-454C-A7F0-DD79B81F3FE7}" srcId="{0A862AFF-B0EA-3D4F-A09A-EF563320162A}" destId="{16A33C05-C03B-DB40-8835-9E8B4386DADD}" srcOrd="0" destOrd="0" parTransId="{93BF922C-0B71-1841-8544-F27676DCF87E}" sibTransId="{CCEEC130-D8CE-974C-9D88-C83141F382B3}"/>
    <dgm:cxn modelId="{A845356A-0745-5E40-AE3A-78FADB317CCA}" srcId="{AFACDF03-0EF9-E741-BEAF-FF7CA8B9ED15}" destId="{3909515E-BEAC-D846-A381-6D361705D19A}" srcOrd="1" destOrd="0" parTransId="{3FC35658-162D-D743-A430-36523880D43F}" sibTransId="{9317FF41-735C-0341-8F69-24C3F67ADB27}"/>
    <dgm:cxn modelId="{00A0996A-6B6B-A247-B4C5-21A981C33E31}" type="presOf" srcId="{FB313FA8-A774-D344-9687-014E5E228E3A}" destId="{4EF36796-263C-524B-962E-A07D4679EECC}" srcOrd="0" destOrd="0" presId="urn:microsoft.com/office/officeart/2005/8/layout/hProcess4"/>
    <dgm:cxn modelId="{B72CB86C-4B24-7245-9927-A313126E3C24}" srcId="{EC81C776-4DE0-6D40-8167-DE3EF057AE31}" destId="{7146A2DE-0C21-E94B-8D2F-1E5963D1FB58}" srcOrd="2" destOrd="0" parTransId="{701FECEF-4870-1444-9891-F06A8D309FB4}" sibTransId="{1A2099BC-2371-0044-9081-1AA9FF1C2B01}"/>
    <dgm:cxn modelId="{B5791075-8C25-5A42-951A-30E45B2E0562}" type="presOf" srcId="{E80D3C88-060E-4947-9CEE-0427ACB563DD}" destId="{85A26346-3243-0F4B-94C9-DC9FFA417964}" srcOrd="0" destOrd="2" presId="urn:microsoft.com/office/officeart/2005/8/layout/hProcess4"/>
    <dgm:cxn modelId="{A58EAB7C-9916-FC46-83BE-244D24864A33}" type="presOf" srcId="{7146A2DE-0C21-E94B-8D2F-1E5963D1FB58}" destId="{561CB112-0EEC-2A4E-99BC-B43712728A33}" srcOrd="0" destOrd="2" presId="urn:microsoft.com/office/officeart/2005/8/layout/hProcess4"/>
    <dgm:cxn modelId="{1E96AC80-0A73-FE4E-AE5D-6C18D116ED20}" type="presOf" srcId="{D056856C-948C-B545-A667-FBC470D92013}" destId="{63DF934B-1E33-A843-BB8E-D554CA36969A}" srcOrd="1" destOrd="1" presId="urn:microsoft.com/office/officeart/2005/8/layout/hProcess4"/>
    <dgm:cxn modelId="{4D950981-C9C6-114D-B26A-BC9B6CBA345A}" type="presOf" srcId="{C452F5D9-A5C0-F742-B16D-399796DBBFAC}" destId="{42BAD36B-7E47-6941-93CE-8995758E5339}" srcOrd="0" destOrd="2" presId="urn:microsoft.com/office/officeart/2005/8/layout/hProcess4"/>
    <dgm:cxn modelId="{B0E42281-8605-CD47-93FA-B0AC43E96891}" type="presOf" srcId="{E80D3C88-060E-4947-9CEE-0427ACB563DD}" destId="{62502954-F004-0349-94C4-F2F3C1E8DFD2}" srcOrd="1" destOrd="2" presId="urn:microsoft.com/office/officeart/2005/8/layout/hProcess4"/>
    <dgm:cxn modelId="{F26A1F86-BD12-AD4A-9202-86C177C65231}" type="presOf" srcId="{7146A2DE-0C21-E94B-8D2F-1E5963D1FB58}" destId="{63DF934B-1E33-A843-BB8E-D554CA36969A}" srcOrd="1" destOrd="2" presId="urn:microsoft.com/office/officeart/2005/8/layout/hProcess4"/>
    <dgm:cxn modelId="{5503C08A-E593-974C-A727-9B8EB5E8C529}" type="presOf" srcId="{3909515E-BEAC-D846-A381-6D361705D19A}" destId="{61A6962B-CE88-504C-9817-AED61C44C207}" srcOrd="0" destOrd="1" presId="urn:microsoft.com/office/officeart/2005/8/layout/hProcess4"/>
    <dgm:cxn modelId="{325D6694-6781-E047-8CDE-B8DDEE670A65}" type="presOf" srcId="{0A862AFF-B0EA-3D4F-A09A-EF563320162A}" destId="{64CA2EE3-6660-B343-9D15-1154321A45EF}" srcOrd="0" destOrd="0" presId="urn:microsoft.com/office/officeart/2005/8/layout/hProcess4"/>
    <dgm:cxn modelId="{B1A055A3-6883-AC46-9555-26363CBD5040}" type="presOf" srcId="{819AC643-988B-864D-A989-DE15721C5964}" destId="{61A6962B-CE88-504C-9817-AED61C44C207}" srcOrd="0" destOrd="0" presId="urn:microsoft.com/office/officeart/2005/8/layout/hProcess4"/>
    <dgm:cxn modelId="{F03CDAA7-C463-8F44-8E84-0B7757DC1080}" srcId="{EC81C776-4DE0-6D40-8167-DE3EF057AE31}" destId="{250F3458-224B-D948-8FDA-DDED79F16047}" srcOrd="0" destOrd="0" parTransId="{3FC6050A-8396-C947-9C69-3593772F0BF9}" sibTransId="{775DF872-06D1-C34C-9CAB-8E8654B095DB}"/>
    <dgm:cxn modelId="{830368A8-4E97-0B44-A321-64140523EC0F}" type="presOf" srcId="{13FCBDE0-D9B0-974B-A9DA-777B05FB1BF5}" destId="{990F384A-9F73-0D46-B441-B211B77B5987}" srcOrd="0" destOrd="0" presId="urn:microsoft.com/office/officeart/2005/8/layout/hProcess4"/>
    <dgm:cxn modelId="{06F660B0-4E0C-6848-8E55-45C27D4DF6F1}" type="presOf" srcId="{D056856C-948C-B545-A667-FBC470D92013}" destId="{561CB112-0EEC-2A4E-99BC-B43712728A33}" srcOrd="0" destOrd="1" presId="urn:microsoft.com/office/officeart/2005/8/layout/hProcess4"/>
    <dgm:cxn modelId="{F5E3D3B0-FCCA-1342-881E-88E9DE183216}" type="presOf" srcId="{E831C732-6606-574E-82A6-D35B95C2A7E4}" destId="{85A26346-3243-0F4B-94C9-DC9FFA417964}" srcOrd="0" destOrd="1" presId="urn:microsoft.com/office/officeart/2005/8/layout/hProcess4"/>
    <dgm:cxn modelId="{821241B6-2C61-CD40-94DA-86313249C961}" type="presOf" srcId="{16A33C05-C03B-DB40-8835-9E8B4386DADD}" destId="{85A26346-3243-0F4B-94C9-DC9FFA417964}" srcOrd="0" destOrd="0" presId="urn:microsoft.com/office/officeart/2005/8/layout/hProcess4"/>
    <dgm:cxn modelId="{C6C878B6-0F53-774A-AB84-7B579353ADF2}" type="presOf" srcId="{26116A36-4C8A-8F4F-A5A2-9F6C8BB3C62B}" destId="{42BAD36B-7E47-6941-93CE-8995758E5339}" srcOrd="0" destOrd="1" presId="urn:microsoft.com/office/officeart/2005/8/layout/hProcess4"/>
    <dgm:cxn modelId="{25FBECBE-D84E-854C-B8B1-56F8121EE991}" type="presOf" srcId="{C452F5D9-A5C0-F742-B16D-399796DBBFAC}" destId="{90357B8F-FD93-E446-BF28-D2E3B8D0413D}" srcOrd="1" destOrd="2" presId="urn:microsoft.com/office/officeart/2005/8/layout/hProcess4"/>
    <dgm:cxn modelId="{F5458CBF-8F2B-0A43-A4AB-A57DB0E43BD5}" type="presOf" srcId="{2530A907-A95F-5144-ABF7-B0C1282FC1ED}" destId="{F5E7DF40-9FEB-EE4B-AE60-9D8E5FDA57F4}" srcOrd="0" destOrd="0" presId="urn:microsoft.com/office/officeart/2005/8/layout/hProcess4"/>
    <dgm:cxn modelId="{B70040C1-F540-2142-89B9-0F17D1AF3D4E}" type="presOf" srcId="{3EE01C1A-D12D-AC47-A86F-0013B9D3E969}" destId="{90357B8F-FD93-E446-BF28-D2E3B8D0413D}" srcOrd="1" destOrd="0" presId="urn:microsoft.com/office/officeart/2005/8/layout/hProcess4"/>
    <dgm:cxn modelId="{0D4C7CC2-A11C-BE42-8B13-0FF619F1121F}" srcId="{AFACDF03-0EF9-E741-BEAF-FF7CA8B9ED15}" destId="{819AC643-988B-864D-A989-DE15721C5964}" srcOrd="0" destOrd="0" parTransId="{840318A2-DF7F-AC45-9261-37A794D3A1B7}" sibTransId="{9AF5BECB-F195-7646-87D8-04522FCA9BBA}"/>
    <dgm:cxn modelId="{685F08C4-3AEA-0145-96E9-FAEB08FA4AD7}" type="presOf" srcId="{AFACDF03-0EF9-E741-BEAF-FF7CA8B9ED15}" destId="{3C7456C5-302C-8948-9AFD-6587B8915138}" srcOrd="0" destOrd="0" presId="urn:microsoft.com/office/officeart/2005/8/layout/hProcess4"/>
    <dgm:cxn modelId="{E84911C4-0EF5-5B45-B847-C1599DB7BE2F}" srcId="{AFACDF03-0EF9-E741-BEAF-FF7CA8B9ED15}" destId="{7695B1F2-BD02-094E-967D-7F2F18074C7D}" srcOrd="2" destOrd="0" parTransId="{F56EFAFF-DCE1-1C48-AA6C-FB68FF9DCFFF}" sibTransId="{66D96DCF-01CB-2E43-8201-D145567F0D87}"/>
    <dgm:cxn modelId="{443E7AC7-AF22-5348-B57E-8A04768260FA}" srcId="{2530A907-A95F-5144-ABF7-B0C1282FC1ED}" destId="{0A862AFF-B0EA-3D4F-A09A-EF563320162A}" srcOrd="3" destOrd="0" parTransId="{F183084F-CEBF-4847-A9C7-D5D650368BF0}" sibTransId="{220F6190-584C-EA40-BC09-9A65F1763990}"/>
    <dgm:cxn modelId="{000E26D4-7D73-0C42-A3AB-07D60C41E7D5}" type="presOf" srcId="{CA158547-8895-234B-B54F-9B97E860D60A}" destId="{6CDF25D4-B16D-484B-9B0E-72A4D71ADA03}" srcOrd="0" destOrd="0" presId="urn:microsoft.com/office/officeart/2005/8/layout/hProcess4"/>
    <dgm:cxn modelId="{6181A5D5-9438-D141-9E6E-252326EE3659}" srcId="{2530A907-A95F-5144-ABF7-B0C1282FC1ED}" destId="{FB313FA8-A774-D344-9687-014E5E228E3A}" srcOrd="2" destOrd="0" parTransId="{BB5BE0B4-C371-DC42-850D-CFD93EBFCB9D}" sibTransId="{13FCBDE0-D9B0-974B-A9DA-777B05FB1BF5}"/>
    <dgm:cxn modelId="{C38F9FD6-80BB-3D4B-A81A-157DBE2E4BDC}" srcId="{0A862AFF-B0EA-3D4F-A09A-EF563320162A}" destId="{E831C732-6606-574E-82A6-D35B95C2A7E4}" srcOrd="1" destOrd="0" parTransId="{B1290421-8067-D34C-8F43-E350D1CCF03A}" sibTransId="{84E04CE1-284E-184A-B0BA-6FE332348338}"/>
    <dgm:cxn modelId="{2976B9D9-B058-094E-B194-9802231D66BF}" srcId="{0A862AFF-B0EA-3D4F-A09A-EF563320162A}" destId="{E80D3C88-060E-4947-9CEE-0427ACB563DD}" srcOrd="2" destOrd="0" parTransId="{661CBD34-7045-C945-8349-91514EFF0AB6}" sibTransId="{80A044FD-768F-2A44-8E96-F849DDBBF58C}"/>
    <dgm:cxn modelId="{26A75BDA-0AA7-BF4C-BE9D-B4E9CF69CA3B}" srcId="{2530A907-A95F-5144-ABF7-B0C1282FC1ED}" destId="{AFACDF03-0EF9-E741-BEAF-FF7CA8B9ED15}" srcOrd="0" destOrd="0" parTransId="{93E57FAE-93C3-2D48-AFF4-AA15BA5A0CC6}" sibTransId="{CA158547-8895-234B-B54F-9B97E860D60A}"/>
    <dgm:cxn modelId="{2A1729EE-21DF-564F-AE28-736511698B4A}" type="presOf" srcId="{EC81C776-4DE0-6D40-8167-DE3EF057AE31}" destId="{124DE984-8EA0-A249-A31E-20410F52BA6E}" srcOrd="0" destOrd="0" presId="urn:microsoft.com/office/officeart/2005/8/layout/hProcess4"/>
    <dgm:cxn modelId="{ABC70DF5-0A28-E346-AE45-8C76558E646F}" type="presOf" srcId="{3EE01C1A-D12D-AC47-A86F-0013B9D3E969}" destId="{42BAD36B-7E47-6941-93CE-8995758E5339}" srcOrd="0" destOrd="0" presId="urn:microsoft.com/office/officeart/2005/8/layout/hProcess4"/>
    <dgm:cxn modelId="{673378DB-74E7-5C4A-9251-0AB3A92C28D6}" type="presParOf" srcId="{F5E7DF40-9FEB-EE4B-AE60-9D8E5FDA57F4}" destId="{25BE328B-C083-144B-BB5C-3F105D3EEDE3}" srcOrd="0" destOrd="0" presId="urn:microsoft.com/office/officeart/2005/8/layout/hProcess4"/>
    <dgm:cxn modelId="{30ED3E13-DC8B-D541-A511-9D50D2818748}" type="presParOf" srcId="{F5E7DF40-9FEB-EE4B-AE60-9D8E5FDA57F4}" destId="{ED303634-C0C0-CC4F-87B5-DE85373B5C96}" srcOrd="1" destOrd="0" presId="urn:microsoft.com/office/officeart/2005/8/layout/hProcess4"/>
    <dgm:cxn modelId="{71547127-7493-DC4D-962C-826E0C3F45DE}" type="presParOf" srcId="{F5E7DF40-9FEB-EE4B-AE60-9D8E5FDA57F4}" destId="{B118FA7E-B58C-1549-9119-0FE472E62D08}" srcOrd="2" destOrd="0" presId="urn:microsoft.com/office/officeart/2005/8/layout/hProcess4"/>
    <dgm:cxn modelId="{070CD527-3694-FD48-8E98-CD734DB1AA07}" type="presParOf" srcId="{B118FA7E-B58C-1549-9119-0FE472E62D08}" destId="{AB8E3EAA-B86D-9A4C-A6F3-E03F98378C7D}" srcOrd="0" destOrd="0" presId="urn:microsoft.com/office/officeart/2005/8/layout/hProcess4"/>
    <dgm:cxn modelId="{CE29ABE4-AF18-2A46-8593-42DF694C3929}" type="presParOf" srcId="{AB8E3EAA-B86D-9A4C-A6F3-E03F98378C7D}" destId="{03BB0F26-575E-0D4A-98F4-E708D3968D8B}" srcOrd="0" destOrd="0" presId="urn:microsoft.com/office/officeart/2005/8/layout/hProcess4"/>
    <dgm:cxn modelId="{2842E64B-CD42-E64C-B0C1-5D073A9CFF69}" type="presParOf" srcId="{AB8E3EAA-B86D-9A4C-A6F3-E03F98378C7D}" destId="{61A6962B-CE88-504C-9817-AED61C44C207}" srcOrd="1" destOrd="0" presId="urn:microsoft.com/office/officeart/2005/8/layout/hProcess4"/>
    <dgm:cxn modelId="{3FE71B78-47B2-074B-8247-DFD590316C43}" type="presParOf" srcId="{AB8E3EAA-B86D-9A4C-A6F3-E03F98378C7D}" destId="{5F464BD9-9316-7D48-9FA3-5A0B50C3A6AE}" srcOrd="2" destOrd="0" presId="urn:microsoft.com/office/officeart/2005/8/layout/hProcess4"/>
    <dgm:cxn modelId="{F85977FF-A289-3E44-A796-54DF5A80CFDB}" type="presParOf" srcId="{AB8E3EAA-B86D-9A4C-A6F3-E03F98378C7D}" destId="{3C7456C5-302C-8948-9AFD-6587B8915138}" srcOrd="3" destOrd="0" presId="urn:microsoft.com/office/officeart/2005/8/layout/hProcess4"/>
    <dgm:cxn modelId="{A544D484-053B-1B46-A455-BB9D5B9432E7}" type="presParOf" srcId="{AB8E3EAA-B86D-9A4C-A6F3-E03F98378C7D}" destId="{4BBDB0EC-9B56-CF49-98D3-9D26BB548294}" srcOrd="4" destOrd="0" presId="urn:microsoft.com/office/officeart/2005/8/layout/hProcess4"/>
    <dgm:cxn modelId="{EA26E044-5E8D-0749-854A-060F3D7924A1}" type="presParOf" srcId="{B118FA7E-B58C-1549-9119-0FE472E62D08}" destId="{6CDF25D4-B16D-484B-9B0E-72A4D71ADA03}" srcOrd="1" destOrd="0" presId="urn:microsoft.com/office/officeart/2005/8/layout/hProcess4"/>
    <dgm:cxn modelId="{CEE670DA-71EB-B342-8E51-72F01790971F}" type="presParOf" srcId="{B118FA7E-B58C-1549-9119-0FE472E62D08}" destId="{B4955D08-2AA2-7144-A441-0BF7B5CAC9B9}" srcOrd="2" destOrd="0" presId="urn:microsoft.com/office/officeart/2005/8/layout/hProcess4"/>
    <dgm:cxn modelId="{D5974EBD-D3A7-434B-9F6A-CAA8AEC03DC3}" type="presParOf" srcId="{B4955D08-2AA2-7144-A441-0BF7B5CAC9B9}" destId="{D7B148FD-4499-E544-BEBA-B17E9A684437}" srcOrd="0" destOrd="0" presId="urn:microsoft.com/office/officeart/2005/8/layout/hProcess4"/>
    <dgm:cxn modelId="{D26A2820-8520-4B4E-965E-5BDFFE23FA13}" type="presParOf" srcId="{B4955D08-2AA2-7144-A441-0BF7B5CAC9B9}" destId="{561CB112-0EEC-2A4E-99BC-B43712728A33}" srcOrd="1" destOrd="0" presId="urn:microsoft.com/office/officeart/2005/8/layout/hProcess4"/>
    <dgm:cxn modelId="{581C1051-371F-CF46-90AF-021DA5D4E17A}" type="presParOf" srcId="{B4955D08-2AA2-7144-A441-0BF7B5CAC9B9}" destId="{63DF934B-1E33-A843-BB8E-D554CA36969A}" srcOrd="2" destOrd="0" presId="urn:microsoft.com/office/officeart/2005/8/layout/hProcess4"/>
    <dgm:cxn modelId="{03AF3197-70C7-A74D-B6C5-3E98EA04BA87}" type="presParOf" srcId="{B4955D08-2AA2-7144-A441-0BF7B5CAC9B9}" destId="{124DE984-8EA0-A249-A31E-20410F52BA6E}" srcOrd="3" destOrd="0" presId="urn:microsoft.com/office/officeart/2005/8/layout/hProcess4"/>
    <dgm:cxn modelId="{EEA9E3D2-F907-144B-9172-B4FC593EBD8B}" type="presParOf" srcId="{B4955D08-2AA2-7144-A441-0BF7B5CAC9B9}" destId="{32261E2B-7C3A-2344-A0EB-09FE03488B77}" srcOrd="4" destOrd="0" presId="urn:microsoft.com/office/officeart/2005/8/layout/hProcess4"/>
    <dgm:cxn modelId="{EDE1D77B-68CD-D347-B258-F335C12D3830}" type="presParOf" srcId="{B118FA7E-B58C-1549-9119-0FE472E62D08}" destId="{16EC59B3-54CE-D64C-932D-9C9182577AA4}" srcOrd="3" destOrd="0" presId="urn:microsoft.com/office/officeart/2005/8/layout/hProcess4"/>
    <dgm:cxn modelId="{C32A9A24-B226-C947-8A6F-3BA5FD45AFB7}" type="presParOf" srcId="{B118FA7E-B58C-1549-9119-0FE472E62D08}" destId="{233D92B5-E1FE-464E-B2CD-9AAEDBD7649D}" srcOrd="4" destOrd="0" presId="urn:microsoft.com/office/officeart/2005/8/layout/hProcess4"/>
    <dgm:cxn modelId="{9A3F1388-0771-8F45-A66A-3787CC071ACE}" type="presParOf" srcId="{233D92B5-E1FE-464E-B2CD-9AAEDBD7649D}" destId="{B3041D16-6B20-B543-BD1F-C2980830A5CB}" srcOrd="0" destOrd="0" presId="urn:microsoft.com/office/officeart/2005/8/layout/hProcess4"/>
    <dgm:cxn modelId="{CB6AF0AB-5C1C-8A4D-B99C-2351BDC05F44}" type="presParOf" srcId="{233D92B5-E1FE-464E-B2CD-9AAEDBD7649D}" destId="{42BAD36B-7E47-6941-93CE-8995758E5339}" srcOrd="1" destOrd="0" presId="urn:microsoft.com/office/officeart/2005/8/layout/hProcess4"/>
    <dgm:cxn modelId="{7D9FF393-FFF6-B34C-80E3-4B20DF695B71}" type="presParOf" srcId="{233D92B5-E1FE-464E-B2CD-9AAEDBD7649D}" destId="{90357B8F-FD93-E446-BF28-D2E3B8D0413D}" srcOrd="2" destOrd="0" presId="urn:microsoft.com/office/officeart/2005/8/layout/hProcess4"/>
    <dgm:cxn modelId="{F237A832-8EF4-4E4F-B356-7F30CE3E8015}" type="presParOf" srcId="{233D92B5-E1FE-464E-B2CD-9AAEDBD7649D}" destId="{4EF36796-263C-524B-962E-A07D4679EECC}" srcOrd="3" destOrd="0" presId="urn:microsoft.com/office/officeart/2005/8/layout/hProcess4"/>
    <dgm:cxn modelId="{BDD1752D-D528-5D47-857D-F3F034A7D090}" type="presParOf" srcId="{233D92B5-E1FE-464E-B2CD-9AAEDBD7649D}" destId="{F4DACAE4-BE02-C64F-A166-6D8C024E5AB5}" srcOrd="4" destOrd="0" presId="urn:microsoft.com/office/officeart/2005/8/layout/hProcess4"/>
    <dgm:cxn modelId="{31A88BBA-3B5E-9D46-96A7-BD5E0D41EE31}" type="presParOf" srcId="{B118FA7E-B58C-1549-9119-0FE472E62D08}" destId="{990F384A-9F73-0D46-B441-B211B77B5987}" srcOrd="5" destOrd="0" presId="urn:microsoft.com/office/officeart/2005/8/layout/hProcess4"/>
    <dgm:cxn modelId="{9EAE6E5D-315D-D549-B792-F084C7C27747}" type="presParOf" srcId="{B118FA7E-B58C-1549-9119-0FE472E62D08}" destId="{8861B59D-9D9A-B34E-94F4-4319F7A64A20}" srcOrd="6" destOrd="0" presId="urn:microsoft.com/office/officeart/2005/8/layout/hProcess4"/>
    <dgm:cxn modelId="{2038D887-0E46-A948-BB51-64F909879512}" type="presParOf" srcId="{8861B59D-9D9A-B34E-94F4-4319F7A64A20}" destId="{44B27268-817A-794B-99C4-68B6E32FE643}" srcOrd="0" destOrd="0" presId="urn:microsoft.com/office/officeart/2005/8/layout/hProcess4"/>
    <dgm:cxn modelId="{B9516C3A-9C94-3A4D-9EB2-FDF15F2A05CE}" type="presParOf" srcId="{8861B59D-9D9A-B34E-94F4-4319F7A64A20}" destId="{85A26346-3243-0F4B-94C9-DC9FFA417964}" srcOrd="1" destOrd="0" presId="urn:microsoft.com/office/officeart/2005/8/layout/hProcess4"/>
    <dgm:cxn modelId="{05033A2E-519C-CF47-9E07-439F945F365E}" type="presParOf" srcId="{8861B59D-9D9A-B34E-94F4-4319F7A64A20}" destId="{62502954-F004-0349-94C4-F2F3C1E8DFD2}" srcOrd="2" destOrd="0" presId="urn:microsoft.com/office/officeart/2005/8/layout/hProcess4"/>
    <dgm:cxn modelId="{5CD2F641-6483-AB4D-8972-0397AD904C00}" type="presParOf" srcId="{8861B59D-9D9A-B34E-94F4-4319F7A64A20}" destId="{64CA2EE3-6660-B343-9D15-1154321A45EF}" srcOrd="3" destOrd="0" presId="urn:microsoft.com/office/officeart/2005/8/layout/hProcess4"/>
    <dgm:cxn modelId="{B260F588-73D7-EF4C-BFF6-4EA7139E3B5D}" type="presParOf" srcId="{8861B59D-9D9A-B34E-94F4-4319F7A64A20}" destId="{01A38C5A-273E-664A-84F9-E884251C9BAB}"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BB7DF1-8587-C443-8154-760C54F26664}">
      <dsp:nvSpPr>
        <dsp:cNvPr id="0" name=""/>
        <dsp:cNvSpPr/>
      </dsp:nvSpPr>
      <dsp:spPr>
        <a:xfrm>
          <a:off x="13473" y="2029983"/>
          <a:ext cx="1861601" cy="1274033"/>
        </a:xfrm>
        <a:prstGeom prst="roundRect">
          <a:avLst>
            <a:gd name="adj" fmla="val 10000"/>
          </a:avLst>
        </a:prstGeom>
        <a:solidFill>
          <a:schemeClr val="bg1">
            <a:alpha val="15000"/>
          </a:schemeClr>
        </a:solidFill>
        <a:ln w="25400" cap="flat" cmpd="sng" algn="ctr">
          <a:solidFill>
            <a:schemeClr val="lt1">
              <a:hueOff val="0"/>
              <a:satOff val="0"/>
              <a:lum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Business Understanding</a:t>
          </a:r>
        </a:p>
      </dsp:txBody>
      <dsp:txXfrm>
        <a:off x="50788" y="2067298"/>
        <a:ext cx="1786971" cy="1199403"/>
      </dsp:txXfrm>
    </dsp:sp>
    <dsp:sp modelId="{F4881578-89DC-7846-B308-055F5B2FA4CE}">
      <dsp:nvSpPr>
        <dsp:cNvPr id="0" name=""/>
        <dsp:cNvSpPr/>
      </dsp:nvSpPr>
      <dsp:spPr>
        <a:xfrm>
          <a:off x="2061234" y="2436161"/>
          <a:ext cx="394659" cy="461677"/>
        </a:xfrm>
        <a:prstGeom prst="rightArrow">
          <a:avLst>
            <a:gd name="adj1" fmla="val 60000"/>
            <a:gd name="adj2" fmla="val 50000"/>
          </a:avLst>
        </a:prstGeom>
        <a:solidFill>
          <a:schemeClr val="bg1">
            <a:alpha val="15000"/>
          </a:schemeClr>
        </a:solidFill>
        <a:ln>
          <a:solidFill>
            <a:schemeClr val="lt1">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2061234" y="2528496"/>
        <a:ext cx="276261" cy="277007"/>
      </dsp:txXfrm>
    </dsp:sp>
    <dsp:sp modelId="{22FC22D9-888F-734E-AB45-54066E4BE814}">
      <dsp:nvSpPr>
        <dsp:cNvPr id="0" name=""/>
        <dsp:cNvSpPr/>
      </dsp:nvSpPr>
      <dsp:spPr>
        <a:xfrm>
          <a:off x="2619715" y="2029983"/>
          <a:ext cx="1861601" cy="1274033"/>
        </a:xfrm>
        <a:prstGeom prst="roundRect">
          <a:avLst>
            <a:gd name="adj" fmla="val 10000"/>
          </a:avLst>
        </a:prstGeom>
        <a:solidFill>
          <a:schemeClr val="bg1">
            <a:alpha val="15000"/>
          </a:schemeClr>
        </a:solidFill>
        <a:ln w="25400" cap="flat" cmpd="sng" algn="ctr">
          <a:solidFill>
            <a:schemeClr val="lt1">
              <a:hueOff val="0"/>
              <a:satOff val="0"/>
              <a:lum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Data Exploration</a:t>
          </a:r>
        </a:p>
      </dsp:txBody>
      <dsp:txXfrm>
        <a:off x="2657030" y="2067298"/>
        <a:ext cx="1786971" cy="1199403"/>
      </dsp:txXfrm>
    </dsp:sp>
    <dsp:sp modelId="{1DEF8428-3AAF-5D41-8B41-2158784B49EF}">
      <dsp:nvSpPr>
        <dsp:cNvPr id="0" name=""/>
        <dsp:cNvSpPr/>
      </dsp:nvSpPr>
      <dsp:spPr>
        <a:xfrm>
          <a:off x="4667476" y="2436161"/>
          <a:ext cx="394659" cy="461677"/>
        </a:xfrm>
        <a:prstGeom prst="rightArrow">
          <a:avLst>
            <a:gd name="adj1" fmla="val 60000"/>
            <a:gd name="adj2" fmla="val 50000"/>
          </a:avLst>
        </a:prstGeom>
        <a:solidFill>
          <a:schemeClr val="bg1">
            <a:alpha val="15000"/>
          </a:schemeClr>
        </a:solidFill>
        <a:ln>
          <a:solidFill>
            <a:schemeClr val="lt1">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4667476" y="2528496"/>
        <a:ext cx="276261" cy="277007"/>
      </dsp:txXfrm>
    </dsp:sp>
    <dsp:sp modelId="{2D9C8208-3ED5-1640-9B1B-185F0EDBBF29}">
      <dsp:nvSpPr>
        <dsp:cNvPr id="0" name=""/>
        <dsp:cNvSpPr/>
      </dsp:nvSpPr>
      <dsp:spPr>
        <a:xfrm>
          <a:off x="5225957" y="2029983"/>
          <a:ext cx="1861601" cy="1274033"/>
        </a:xfrm>
        <a:prstGeom prst="roundRect">
          <a:avLst>
            <a:gd name="adj" fmla="val 10000"/>
          </a:avLst>
        </a:prstGeom>
        <a:solidFill>
          <a:schemeClr val="bg1">
            <a:alpha val="15000"/>
          </a:schemeClr>
        </a:solidFill>
        <a:ln w="25400" cap="flat" cmpd="sng" algn="ctr">
          <a:solidFill>
            <a:schemeClr val="lt1">
              <a:hueOff val="0"/>
              <a:satOff val="0"/>
              <a:lum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Exploratory Data Analysis</a:t>
          </a:r>
        </a:p>
      </dsp:txBody>
      <dsp:txXfrm>
        <a:off x="5263272" y="2067298"/>
        <a:ext cx="1786971" cy="1199403"/>
      </dsp:txXfrm>
    </dsp:sp>
    <dsp:sp modelId="{18766D2F-2E93-1045-B54D-DCC8660D2107}">
      <dsp:nvSpPr>
        <dsp:cNvPr id="0" name=""/>
        <dsp:cNvSpPr/>
      </dsp:nvSpPr>
      <dsp:spPr>
        <a:xfrm>
          <a:off x="7273718" y="2436161"/>
          <a:ext cx="394659" cy="461677"/>
        </a:xfrm>
        <a:prstGeom prst="rightArrow">
          <a:avLst>
            <a:gd name="adj1" fmla="val 60000"/>
            <a:gd name="adj2" fmla="val 50000"/>
          </a:avLst>
        </a:prstGeom>
        <a:solidFill>
          <a:schemeClr val="bg1">
            <a:alpha val="15000"/>
          </a:schemeClr>
        </a:solidFill>
        <a:ln>
          <a:solidFill>
            <a:schemeClr val="lt1">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7273718" y="2528496"/>
        <a:ext cx="276261" cy="277007"/>
      </dsp:txXfrm>
    </dsp:sp>
    <dsp:sp modelId="{76DF492E-33AC-724E-8D9D-87902544441E}">
      <dsp:nvSpPr>
        <dsp:cNvPr id="0" name=""/>
        <dsp:cNvSpPr/>
      </dsp:nvSpPr>
      <dsp:spPr>
        <a:xfrm>
          <a:off x="7832199" y="2029983"/>
          <a:ext cx="1861601" cy="1274033"/>
        </a:xfrm>
        <a:prstGeom prst="roundRect">
          <a:avLst>
            <a:gd name="adj" fmla="val 10000"/>
          </a:avLst>
        </a:prstGeom>
        <a:solidFill>
          <a:schemeClr val="bg1">
            <a:alpha val="15000"/>
          </a:schemeClr>
        </a:solidFill>
        <a:ln w="25400" cap="flat" cmpd="sng" algn="ctr">
          <a:solidFill>
            <a:schemeClr val="lt1">
              <a:hueOff val="0"/>
              <a:satOff val="0"/>
              <a:lum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Data Preparation</a:t>
          </a:r>
        </a:p>
      </dsp:txBody>
      <dsp:txXfrm>
        <a:off x="7869514" y="2067298"/>
        <a:ext cx="1786971" cy="1199403"/>
      </dsp:txXfrm>
    </dsp:sp>
    <dsp:sp modelId="{8EF55259-775D-FA4B-AD3B-675CEA7C9F00}">
      <dsp:nvSpPr>
        <dsp:cNvPr id="0" name=""/>
        <dsp:cNvSpPr/>
      </dsp:nvSpPr>
      <dsp:spPr>
        <a:xfrm>
          <a:off x="9879960" y="2436161"/>
          <a:ext cx="394659" cy="461677"/>
        </a:xfrm>
        <a:prstGeom prst="rightArrow">
          <a:avLst>
            <a:gd name="adj1" fmla="val 60000"/>
            <a:gd name="adj2" fmla="val 50000"/>
          </a:avLst>
        </a:prstGeom>
        <a:solidFill>
          <a:schemeClr val="bg1">
            <a:alpha val="15000"/>
          </a:schemeClr>
        </a:solidFill>
        <a:ln>
          <a:solidFill>
            <a:schemeClr val="lt1">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9879960" y="2528496"/>
        <a:ext cx="276261" cy="277007"/>
      </dsp:txXfrm>
    </dsp:sp>
    <dsp:sp modelId="{D984FC9D-416E-4D44-8A69-80AEAC43BFAC}">
      <dsp:nvSpPr>
        <dsp:cNvPr id="0" name=""/>
        <dsp:cNvSpPr/>
      </dsp:nvSpPr>
      <dsp:spPr>
        <a:xfrm>
          <a:off x="10438441" y="2029983"/>
          <a:ext cx="1861601" cy="1274033"/>
        </a:xfrm>
        <a:prstGeom prst="roundRect">
          <a:avLst>
            <a:gd name="adj" fmla="val 10000"/>
          </a:avLst>
        </a:prstGeom>
        <a:solidFill>
          <a:schemeClr val="bg1">
            <a:alpha val="15000"/>
          </a:schemeClr>
        </a:solidFill>
        <a:ln w="25400" cap="flat" cmpd="sng" algn="ctr">
          <a:solidFill>
            <a:schemeClr val="lt1">
              <a:hueOff val="0"/>
              <a:satOff val="0"/>
              <a:lum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Model Development</a:t>
          </a:r>
        </a:p>
      </dsp:txBody>
      <dsp:txXfrm>
        <a:off x="10475756" y="2067298"/>
        <a:ext cx="1786971" cy="1199403"/>
      </dsp:txXfrm>
    </dsp:sp>
    <dsp:sp modelId="{67EFC97D-8067-1E49-A28E-83B2878C26CB}">
      <dsp:nvSpPr>
        <dsp:cNvPr id="0" name=""/>
        <dsp:cNvSpPr/>
      </dsp:nvSpPr>
      <dsp:spPr>
        <a:xfrm>
          <a:off x="12486202" y="2436161"/>
          <a:ext cx="394659" cy="461677"/>
        </a:xfrm>
        <a:prstGeom prst="rightArrow">
          <a:avLst>
            <a:gd name="adj1" fmla="val 60000"/>
            <a:gd name="adj2" fmla="val 50000"/>
          </a:avLst>
        </a:prstGeom>
        <a:solidFill>
          <a:schemeClr val="bg1">
            <a:alpha val="15000"/>
          </a:schemeClr>
        </a:solidFill>
        <a:ln>
          <a:solidFill>
            <a:schemeClr val="lt1">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12486202" y="2528496"/>
        <a:ext cx="276261" cy="277007"/>
      </dsp:txXfrm>
    </dsp:sp>
    <dsp:sp modelId="{178E6C5D-BB44-BC4E-B8FA-D7CB21F749D9}">
      <dsp:nvSpPr>
        <dsp:cNvPr id="0" name=""/>
        <dsp:cNvSpPr/>
      </dsp:nvSpPr>
      <dsp:spPr>
        <a:xfrm>
          <a:off x="13044683" y="2029983"/>
          <a:ext cx="1861601" cy="1274033"/>
        </a:xfrm>
        <a:prstGeom prst="roundRect">
          <a:avLst>
            <a:gd name="adj" fmla="val 10000"/>
          </a:avLst>
        </a:prstGeom>
        <a:solidFill>
          <a:schemeClr val="bg1">
            <a:alpha val="15000"/>
          </a:schemeClr>
        </a:solidFill>
        <a:ln w="25400" cap="flat" cmpd="sng" algn="ctr">
          <a:solidFill>
            <a:schemeClr val="lt1">
              <a:hueOff val="0"/>
              <a:satOff val="0"/>
              <a:lum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Model Evaluation</a:t>
          </a:r>
        </a:p>
      </dsp:txBody>
      <dsp:txXfrm>
        <a:off x="13081998" y="2067298"/>
        <a:ext cx="1786971" cy="1199403"/>
      </dsp:txXfrm>
    </dsp:sp>
    <dsp:sp modelId="{EA02CC48-F6CC-7E4F-8956-9C128AE2A0C3}">
      <dsp:nvSpPr>
        <dsp:cNvPr id="0" name=""/>
        <dsp:cNvSpPr/>
      </dsp:nvSpPr>
      <dsp:spPr>
        <a:xfrm>
          <a:off x="15092444" y="2436161"/>
          <a:ext cx="394659" cy="461677"/>
        </a:xfrm>
        <a:prstGeom prst="rightArrow">
          <a:avLst>
            <a:gd name="adj1" fmla="val 60000"/>
            <a:gd name="adj2" fmla="val 50000"/>
          </a:avLst>
        </a:prstGeom>
        <a:solidFill>
          <a:schemeClr val="bg1">
            <a:alpha val="15000"/>
          </a:schemeClr>
        </a:solidFill>
        <a:ln>
          <a:solidFill>
            <a:schemeClr val="lt1">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15092444" y="2528496"/>
        <a:ext cx="276261" cy="277007"/>
      </dsp:txXfrm>
    </dsp:sp>
    <dsp:sp modelId="{6FD60E23-8595-BC42-80FE-E0CEEC824A2D}">
      <dsp:nvSpPr>
        <dsp:cNvPr id="0" name=""/>
        <dsp:cNvSpPr/>
      </dsp:nvSpPr>
      <dsp:spPr>
        <a:xfrm>
          <a:off x="15650925" y="2029983"/>
          <a:ext cx="1861601" cy="1274033"/>
        </a:xfrm>
        <a:prstGeom prst="roundRect">
          <a:avLst>
            <a:gd name="adj" fmla="val 10000"/>
          </a:avLst>
        </a:prstGeom>
        <a:solidFill>
          <a:schemeClr val="bg1">
            <a:alpha val="15000"/>
          </a:schemeClr>
        </a:solidFill>
        <a:ln w="25400" cap="flat" cmpd="sng" algn="ctr">
          <a:solidFill>
            <a:schemeClr val="lt1">
              <a:hueOff val="0"/>
              <a:satOff val="0"/>
              <a:lum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Business Insights</a:t>
          </a:r>
        </a:p>
      </dsp:txBody>
      <dsp:txXfrm>
        <a:off x="15688240" y="2067298"/>
        <a:ext cx="1786971" cy="11994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6962B-CE88-504C-9817-AED61C44C207}">
      <dsp:nvSpPr>
        <dsp:cNvPr id="0" name=""/>
        <dsp:cNvSpPr/>
      </dsp:nvSpPr>
      <dsp:spPr>
        <a:xfrm>
          <a:off x="9172" y="3369468"/>
          <a:ext cx="3470290" cy="2862263"/>
        </a:xfrm>
        <a:prstGeom prst="roundRect">
          <a:avLst>
            <a:gd name="adj" fmla="val 10000"/>
          </a:avLst>
        </a:prstGeom>
        <a:solidFill>
          <a:schemeClr val="bg1">
            <a:alpha val="15000"/>
          </a:schemeClr>
        </a:solidFill>
        <a:ln w="25400" cap="flat" cmpd="sng" algn="ctr">
          <a:solidFill>
            <a:schemeClr val="bg1"/>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1066800">
            <a:lnSpc>
              <a:spcPct val="90000"/>
            </a:lnSpc>
            <a:spcBef>
              <a:spcPct val="0"/>
            </a:spcBef>
            <a:spcAft>
              <a:spcPct val="15000"/>
            </a:spcAft>
            <a:buNone/>
          </a:pPr>
          <a:r>
            <a:rPr lang="en-US" sz="2400" kern="1200" dirty="0"/>
            <a:t>• Define project topic</a:t>
          </a:r>
          <a:endParaRPr lang="en-US" sz="2400" kern="1200" dirty="0">
            <a:solidFill>
              <a:schemeClr val="bg1"/>
            </a:solidFill>
          </a:endParaRPr>
        </a:p>
        <a:p>
          <a:pPr marL="228600" lvl="1" indent="-228600" algn="l" defTabSz="1066800">
            <a:lnSpc>
              <a:spcPct val="90000"/>
            </a:lnSpc>
            <a:spcBef>
              <a:spcPct val="0"/>
            </a:spcBef>
            <a:spcAft>
              <a:spcPct val="15000"/>
            </a:spcAft>
            <a:buNone/>
          </a:pPr>
          <a:r>
            <a:rPr lang="en-US" sz="2400" kern="1200"/>
            <a:t>• Identify business problem</a:t>
          </a:r>
        </a:p>
        <a:p>
          <a:pPr marL="228600" lvl="1" indent="-228600" algn="l" defTabSz="1066800">
            <a:lnSpc>
              <a:spcPct val="90000"/>
            </a:lnSpc>
            <a:spcBef>
              <a:spcPct val="0"/>
            </a:spcBef>
            <a:spcAft>
              <a:spcPct val="15000"/>
            </a:spcAft>
            <a:buNone/>
          </a:pPr>
          <a:r>
            <a:rPr lang="en-US" sz="2400" kern="1200" dirty="0"/>
            <a:t>• Select and understand dataset</a:t>
          </a:r>
        </a:p>
      </dsp:txBody>
      <dsp:txXfrm>
        <a:off x="75041" y="3435337"/>
        <a:ext cx="3338552" cy="2117183"/>
      </dsp:txXfrm>
    </dsp:sp>
    <dsp:sp modelId="{6CDF25D4-B16D-484B-9B0E-72A4D71ADA03}">
      <dsp:nvSpPr>
        <dsp:cNvPr id="0" name=""/>
        <dsp:cNvSpPr/>
      </dsp:nvSpPr>
      <dsp:spPr>
        <a:xfrm>
          <a:off x="1977519" y="4121068"/>
          <a:ext cx="3724788" cy="3724788"/>
        </a:xfrm>
        <a:prstGeom prst="leftCircularArrow">
          <a:avLst>
            <a:gd name="adj1" fmla="val 2914"/>
            <a:gd name="adj2" fmla="val 356623"/>
            <a:gd name="adj3" fmla="val 2132134"/>
            <a:gd name="adj4" fmla="val 9024489"/>
            <a:gd name="adj5" fmla="val 3400"/>
          </a:avLst>
        </a:prstGeom>
        <a:solidFill>
          <a:schemeClr val="bg1">
            <a:alpha val="25000"/>
          </a:schemeClr>
        </a:solidFill>
        <a:ln>
          <a:noFill/>
        </a:ln>
        <a:effectLst/>
      </dsp:spPr>
      <dsp:style>
        <a:lnRef idx="0">
          <a:scrgbClr r="0" g="0" b="0"/>
        </a:lnRef>
        <a:fillRef idx="1">
          <a:scrgbClr r="0" g="0" b="0"/>
        </a:fillRef>
        <a:effectRef idx="0">
          <a:scrgbClr r="0" g="0" b="0"/>
        </a:effectRef>
        <a:fontRef idx="minor">
          <a:schemeClr val="lt1"/>
        </a:fontRef>
      </dsp:style>
    </dsp:sp>
    <dsp:sp modelId="{3C7456C5-302C-8948-9AFD-6587B8915138}">
      <dsp:nvSpPr>
        <dsp:cNvPr id="0" name=""/>
        <dsp:cNvSpPr/>
      </dsp:nvSpPr>
      <dsp:spPr>
        <a:xfrm>
          <a:off x="780348" y="5618389"/>
          <a:ext cx="3084702" cy="1226684"/>
        </a:xfrm>
        <a:prstGeom prst="roundRect">
          <a:avLst>
            <a:gd name="adj" fmla="val 10000"/>
          </a:avLst>
        </a:prstGeom>
        <a:solidFill>
          <a:srgbClr val="16414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tx1"/>
              </a:solidFill>
            </a:rPr>
            <a:t>02. - 06.03.</a:t>
          </a:r>
        </a:p>
      </dsp:txBody>
      <dsp:txXfrm>
        <a:off x="816276" y="5654317"/>
        <a:ext cx="3012846" cy="1154828"/>
      </dsp:txXfrm>
    </dsp:sp>
    <dsp:sp modelId="{561CB112-0EEC-2A4E-99BC-B43712728A33}">
      <dsp:nvSpPr>
        <dsp:cNvPr id="0" name=""/>
        <dsp:cNvSpPr/>
      </dsp:nvSpPr>
      <dsp:spPr>
        <a:xfrm>
          <a:off x="4373878" y="3369468"/>
          <a:ext cx="3470290" cy="2862263"/>
        </a:xfrm>
        <a:prstGeom prst="roundRect">
          <a:avLst>
            <a:gd name="adj" fmla="val 10000"/>
          </a:avLst>
        </a:prstGeom>
        <a:solidFill>
          <a:schemeClr val="bg1">
            <a:alpha val="15000"/>
          </a:schemeClr>
        </a:solidFill>
        <a:ln w="25400" cap="flat" cmpd="sng" algn="ctr">
          <a:solidFill>
            <a:schemeClr val="bg1"/>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1066800">
            <a:lnSpc>
              <a:spcPct val="90000"/>
            </a:lnSpc>
            <a:spcBef>
              <a:spcPct val="0"/>
            </a:spcBef>
            <a:spcAft>
              <a:spcPct val="15000"/>
            </a:spcAft>
            <a:buNone/>
          </a:pPr>
          <a:r>
            <a:rPr lang="en-US" sz="2400" kern="1200" dirty="0"/>
            <a:t>• Exploratory Data Analysis (EDA)</a:t>
          </a:r>
        </a:p>
        <a:p>
          <a:pPr marL="228600" lvl="1" indent="-228600" algn="l" defTabSz="1066800">
            <a:lnSpc>
              <a:spcPct val="90000"/>
            </a:lnSpc>
            <a:spcBef>
              <a:spcPct val="0"/>
            </a:spcBef>
            <a:spcAft>
              <a:spcPct val="15000"/>
            </a:spcAft>
            <a:buNone/>
          </a:pPr>
          <a:r>
            <a:rPr lang="en-US" sz="2400" kern="1200"/>
            <a:t>• Feature preparation</a:t>
          </a:r>
        </a:p>
        <a:p>
          <a:pPr marL="228600" lvl="1" indent="-228600" algn="l" defTabSz="1066800">
            <a:lnSpc>
              <a:spcPct val="90000"/>
            </a:lnSpc>
            <a:spcBef>
              <a:spcPct val="0"/>
            </a:spcBef>
            <a:spcAft>
              <a:spcPct val="15000"/>
            </a:spcAft>
            <a:buNone/>
          </a:pPr>
          <a:r>
            <a:rPr lang="en-US" sz="2400" kern="1200" dirty="0"/>
            <a:t>• Train and evaluate ML models</a:t>
          </a:r>
        </a:p>
      </dsp:txBody>
      <dsp:txXfrm>
        <a:off x="4439747" y="4048679"/>
        <a:ext cx="3338552" cy="2117183"/>
      </dsp:txXfrm>
    </dsp:sp>
    <dsp:sp modelId="{16EC59B3-54CE-D64C-932D-9C9182577AA4}">
      <dsp:nvSpPr>
        <dsp:cNvPr id="0" name=""/>
        <dsp:cNvSpPr/>
      </dsp:nvSpPr>
      <dsp:spPr>
        <a:xfrm>
          <a:off x="6320786" y="1640763"/>
          <a:ext cx="4177512" cy="4177512"/>
        </a:xfrm>
        <a:prstGeom prst="circularArrow">
          <a:avLst>
            <a:gd name="adj1" fmla="val 2598"/>
            <a:gd name="adj2" fmla="val 315639"/>
            <a:gd name="adj3" fmla="val 19508850"/>
            <a:gd name="adj4" fmla="val 12575511"/>
            <a:gd name="adj5" fmla="val 3032"/>
          </a:avLst>
        </a:prstGeom>
        <a:solidFill>
          <a:schemeClr val="bg1">
            <a:alpha val="25000"/>
          </a:schemeClr>
        </a:solidFill>
        <a:ln>
          <a:noFill/>
        </a:ln>
        <a:effectLst/>
      </dsp:spPr>
      <dsp:style>
        <a:lnRef idx="0">
          <a:scrgbClr r="0" g="0" b="0"/>
        </a:lnRef>
        <a:fillRef idx="1">
          <a:scrgbClr r="0" g="0" b="0"/>
        </a:fillRef>
        <a:effectRef idx="0">
          <a:scrgbClr r="0" g="0" b="0"/>
        </a:effectRef>
        <a:fontRef idx="minor">
          <a:schemeClr val="lt1"/>
        </a:fontRef>
      </dsp:style>
    </dsp:sp>
    <dsp:sp modelId="{124DE984-8EA0-A249-A31E-20410F52BA6E}">
      <dsp:nvSpPr>
        <dsp:cNvPr id="0" name=""/>
        <dsp:cNvSpPr/>
      </dsp:nvSpPr>
      <dsp:spPr>
        <a:xfrm>
          <a:off x="5153140" y="2756125"/>
          <a:ext cx="3084702" cy="1226684"/>
        </a:xfrm>
        <a:prstGeom prst="roundRect">
          <a:avLst>
            <a:gd name="adj" fmla="val 10000"/>
          </a:avLst>
        </a:prstGeom>
        <a:solidFill>
          <a:srgbClr val="16414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tx1"/>
              </a:solidFill>
            </a:rPr>
            <a:t>09. – 13.03.</a:t>
          </a:r>
        </a:p>
      </dsp:txBody>
      <dsp:txXfrm>
        <a:off x="5189068" y="2792053"/>
        <a:ext cx="3012846" cy="1154828"/>
      </dsp:txXfrm>
    </dsp:sp>
    <dsp:sp modelId="{42BAD36B-7E47-6941-93CE-8995758E5339}">
      <dsp:nvSpPr>
        <dsp:cNvPr id="0" name=""/>
        <dsp:cNvSpPr/>
      </dsp:nvSpPr>
      <dsp:spPr>
        <a:xfrm>
          <a:off x="8754756" y="3369468"/>
          <a:ext cx="3470290" cy="2862263"/>
        </a:xfrm>
        <a:prstGeom prst="roundRect">
          <a:avLst>
            <a:gd name="adj" fmla="val 10000"/>
          </a:avLst>
        </a:prstGeom>
        <a:solidFill>
          <a:schemeClr val="bg1">
            <a:alpha val="15000"/>
          </a:schemeClr>
        </a:solidFill>
        <a:ln w="25400" cap="flat" cmpd="sng" algn="ctr">
          <a:solidFill>
            <a:schemeClr val="bg1"/>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1066800">
            <a:lnSpc>
              <a:spcPct val="90000"/>
            </a:lnSpc>
            <a:spcBef>
              <a:spcPct val="0"/>
            </a:spcBef>
            <a:spcAft>
              <a:spcPct val="15000"/>
            </a:spcAft>
            <a:buNone/>
          </a:pPr>
          <a:r>
            <a:rPr lang="en-US" sz="2400" b="0" kern="1200" dirty="0">
              <a:solidFill>
                <a:schemeClr val="tx1"/>
              </a:solidFill>
            </a:rPr>
            <a:t>• Improve model performance</a:t>
          </a:r>
        </a:p>
        <a:p>
          <a:pPr marL="228600" lvl="1" indent="-228600" algn="l" defTabSz="1066800">
            <a:lnSpc>
              <a:spcPct val="90000"/>
            </a:lnSpc>
            <a:spcBef>
              <a:spcPct val="0"/>
            </a:spcBef>
            <a:spcAft>
              <a:spcPct val="15000"/>
            </a:spcAft>
            <a:buNone/>
          </a:pPr>
          <a:r>
            <a:rPr lang="en-US" sz="2400" b="0" kern="1200" dirty="0">
              <a:solidFill>
                <a:schemeClr val="tx1"/>
              </a:solidFill>
            </a:rPr>
            <a:t>• Build Artificial Neural Network (ANN)</a:t>
          </a:r>
        </a:p>
        <a:p>
          <a:pPr marL="228600" lvl="1" indent="-228600" algn="l" defTabSz="1066800">
            <a:lnSpc>
              <a:spcPct val="90000"/>
            </a:lnSpc>
            <a:spcBef>
              <a:spcPct val="0"/>
            </a:spcBef>
            <a:spcAft>
              <a:spcPct val="15000"/>
            </a:spcAft>
            <a:buNone/>
          </a:pPr>
          <a:r>
            <a:rPr lang="en-US" sz="2400" b="0" kern="1200" dirty="0">
              <a:solidFill>
                <a:schemeClr val="tx1"/>
              </a:solidFill>
            </a:rPr>
            <a:t>• Explore additional insights</a:t>
          </a:r>
        </a:p>
      </dsp:txBody>
      <dsp:txXfrm>
        <a:off x="8820625" y="3435337"/>
        <a:ext cx="3338552" cy="2117183"/>
      </dsp:txXfrm>
    </dsp:sp>
    <dsp:sp modelId="{990F384A-9F73-0D46-B441-B211B77B5987}">
      <dsp:nvSpPr>
        <dsp:cNvPr id="0" name=""/>
        <dsp:cNvSpPr/>
      </dsp:nvSpPr>
      <dsp:spPr>
        <a:xfrm>
          <a:off x="10722497" y="4114123"/>
          <a:ext cx="3734086" cy="3734086"/>
        </a:xfrm>
        <a:prstGeom prst="leftCircularArrow">
          <a:avLst>
            <a:gd name="adj1" fmla="val 2907"/>
            <a:gd name="adj2" fmla="val 355675"/>
            <a:gd name="adj3" fmla="val 2131186"/>
            <a:gd name="adj4" fmla="val 9024489"/>
            <a:gd name="adj5" fmla="val 3392"/>
          </a:avLst>
        </a:prstGeom>
        <a:solidFill>
          <a:schemeClr val="bg1">
            <a:alpha val="25000"/>
          </a:schemeClr>
        </a:solidFill>
        <a:ln>
          <a:noFill/>
        </a:ln>
        <a:effectLst/>
      </dsp:spPr>
      <dsp:style>
        <a:lnRef idx="0">
          <a:scrgbClr r="0" g="0" b="0"/>
        </a:lnRef>
        <a:fillRef idx="1">
          <a:scrgbClr r="0" g="0" b="0"/>
        </a:fillRef>
        <a:effectRef idx="0">
          <a:scrgbClr r="0" g="0" b="0"/>
        </a:effectRef>
        <a:fontRef idx="minor">
          <a:schemeClr val="lt1"/>
        </a:fontRef>
      </dsp:style>
    </dsp:sp>
    <dsp:sp modelId="{4EF36796-263C-524B-962E-A07D4679EECC}">
      <dsp:nvSpPr>
        <dsp:cNvPr id="0" name=""/>
        <dsp:cNvSpPr/>
      </dsp:nvSpPr>
      <dsp:spPr>
        <a:xfrm>
          <a:off x="9525932" y="5618389"/>
          <a:ext cx="3084702" cy="1226684"/>
        </a:xfrm>
        <a:prstGeom prst="roundRect">
          <a:avLst>
            <a:gd name="adj" fmla="val 10000"/>
          </a:avLst>
        </a:prstGeom>
        <a:solidFill>
          <a:srgbClr val="16414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a:lnSpc>
              <a:spcPct val="90000"/>
            </a:lnSpc>
            <a:spcBef>
              <a:spcPct val="0"/>
            </a:spcBef>
            <a:spcAft>
              <a:spcPct val="35000"/>
            </a:spcAft>
            <a:buNone/>
          </a:pPr>
          <a:r>
            <a:rPr lang="en-US" sz="3200" b="0" kern="1200" dirty="0">
              <a:solidFill>
                <a:schemeClr val="tx1"/>
              </a:solidFill>
            </a:rPr>
            <a:t>16. – 20.03.</a:t>
          </a:r>
        </a:p>
      </dsp:txBody>
      <dsp:txXfrm>
        <a:off x="9561860" y="5654317"/>
        <a:ext cx="3012846" cy="1154828"/>
      </dsp:txXfrm>
    </dsp:sp>
    <dsp:sp modelId="{85A26346-3243-0F4B-94C9-DC9FFA417964}">
      <dsp:nvSpPr>
        <dsp:cNvPr id="0" name=""/>
        <dsp:cNvSpPr/>
      </dsp:nvSpPr>
      <dsp:spPr>
        <a:xfrm>
          <a:off x="13127548" y="3369468"/>
          <a:ext cx="3470290" cy="2862263"/>
        </a:xfrm>
        <a:prstGeom prst="roundRect">
          <a:avLst>
            <a:gd name="adj" fmla="val 10000"/>
          </a:avLst>
        </a:prstGeom>
        <a:solidFill>
          <a:schemeClr val="bg1">
            <a:alpha val="15000"/>
          </a:schemeClr>
        </a:solidFill>
        <a:ln w="25400" cap="flat" cmpd="sng" algn="ctr">
          <a:solidFill>
            <a:schemeClr val="bg1"/>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l" defTabSz="1066800">
            <a:lnSpc>
              <a:spcPct val="90000"/>
            </a:lnSpc>
            <a:spcBef>
              <a:spcPct val="0"/>
            </a:spcBef>
            <a:spcAft>
              <a:spcPct val="15000"/>
            </a:spcAft>
            <a:buNone/>
          </a:pPr>
          <a:r>
            <a:rPr lang="en-US" sz="2400" kern="1200" dirty="0"/>
            <a:t>• Hyperparameter tuning</a:t>
          </a:r>
          <a:endParaRPr lang="en-US" sz="2400" kern="1200" dirty="0">
            <a:solidFill>
              <a:schemeClr val="bg1"/>
            </a:solidFill>
          </a:endParaRPr>
        </a:p>
        <a:p>
          <a:pPr marL="228600" lvl="1" indent="-228600" algn="l" defTabSz="1066800">
            <a:lnSpc>
              <a:spcPct val="90000"/>
            </a:lnSpc>
            <a:spcBef>
              <a:spcPct val="0"/>
            </a:spcBef>
            <a:spcAft>
              <a:spcPct val="15000"/>
            </a:spcAft>
            <a:buNone/>
          </a:pPr>
          <a:r>
            <a:rPr lang="en-US" sz="2400" kern="1200"/>
            <a:t>• Final model evaluation</a:t>
          </a:r>
        </a:p>
        <a:p>
          <a:pPr marL="228600" lvl="1" indent="-228600" algn="l" defTabSz="1066800">
            <a:lnSpc>
              <a:spcPct val="90000"/>
            </a:lnSpc>
            <a:spcBef>
              <a:spcPct val="0"/>
            </a:spcBef>
            <a:spcAft>
              <a:spcPct val="15000"/>
            </a:spcAft>
            <a:buNone/>
          </a:pPr>
          <a:r>
            <a:rPr lang="en-US" sz="2400" kern="1200" dirty="0"/>
            <a:t>• Prepare presentation &amp; documentation</a:t>
          </a:r>
        </a:p>
      </dsp:txBody>
      <dsp:txXfrm>
        <a:off x="13193417" y="4048679"/>
        <a:ext cx="3338552" cy="2117183"/>
      </dsp:txXfrm>
    </dsp:sp>
    <dsp:sp modelId="{64CA2EE3-6660-B343-9D15-1154321A45EF}">
      <dsp:nvSpPr>
        <dsp:cNvPr id="0" name=""/>
        <dsp:cNvSpPr/>
      </dsp:nvSpPr>
      <dsp:spPr>
        <a:xfrm>
          <a:off x="13898724" y="2756125"/>
          <a:ext cx="3084702" cy="1226684"/>
        </a:xfrm>
        <a:prstGeom prst="roundRect">
          <a:avLst>
            <a:gd name="adj" fmla="val 10000"/>
          </a:avLst>
        </a:prstGeom>
        <a:solidFill>
          <a:srgbClr val="16414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tx1"/>
              </a:solidFill>
            </a:rPr>
            <a:t>23. – 27.03.</a:t>
          </a:r>
        </a:p>
      </dsp:txBody>
      <dsp:txXfrm>
        <a:off x="13934652" y="2792053"/>
        <a:ext cx="3012846" cy="115482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A4C630-78AB-A64F-9D51-4F1EE13A4406}" type="datetimeFigureOut">
              <a:rPr lang="en-US" smtClean="0"/>
              <a:t>3/13/26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5C2D7-9E94-2045-8E24-80DD133EE3A9}" type="slidenum">
              <a:rPr lang="en-US" smtClean="0"/>
              <a:t>‹#›</a:t>
            </a:fld>
            <a:endParaRPr lang="en-US"/>
          </a:p>
        </p:txBody>
      </p:sp>
    </p:spTree>
    <p:extLst>
      <p:ext uri="{BB962C8B-B14F-4D97-AF65-F5344CB8AC3E}">
        <p14:creationId xmlns:p14="http://schemas.microsoft.com/office/powerpoint/2010/main" val="2432687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1</a:t>
            </a:fld>
            <a:endParaRPr lang="en-US"/>
          </a:p>
        </p:txBody>
      </p:sp>
    </p:spTree>
    <p:extLst>
      <p:ext uri="{BB962C8B-B14F-4D97-AF65-F5344CB8AC3E}">
        <p14:creationId xmlns:p14="http://schemas.microsoft.com/office/powerpoint/2010/main" val="2391423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5400" dirty="0"/>
              <a:t>Customer churn reduces long-term revenue for banks, and retaining customers is far cheaper than acquiring new ones. This project applies machine learning to predict churn and help banks take proactive, data-driven actions to retain customers.</a:t>
            </a:r>
          </a:p>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2</a:t>
            </a:fld>
            <a:endParaRPr lang="en-US"/>
          </a:p>
        </p:txBody>
      </p:sp>
    </p:spTree>
    <p:extLst>
      <p:ext uri="{BB962C8B-B14F-4D97-AF65-F5344CB8AC3E}">
        <p14:creationId xmlns:p14="http://schemas.microsoft.com/office/powerpoint/2010/main" val="17355184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objective of this project is to predict which customers are at risk of leaving the bank. By identifying key churn drivers and comparing different machine learning models, the goal is to provide insights that support proactive customer retention.</a:t>
            </a:r>
          </a:p>
          <a:p>
            <a:r>
              <a:rPr lang="en-US" dirty="0"/>
              <a:t>Banks benefit from identifying at-risk customers early so they can implement targeted retention strategies. This project demonstrates how machine learning can support data-driven decision making in customer retention.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3</a:t>
            </a:fld>
            <a:endParaRPr lang="en-US"/>
          </a:p>
        </p:txBody>
      </p:sp>
    </p:spTree>
    <p:extLst>
      <p:ext uri="{BB962C8B-B14F-4D97-AF65-F5344CB8AC3E}">
        <p14:creationId xmlns:p14="http://schemas.microsoft.com/office/powerpoint/2010/main" val="2346902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project follows a structured data science workflow. First, we define the business problem and understand why predicting churn matters. Then we explore and analyze the data to identify patterns related to customer behavior. After preparing the data, we train several machine learning models to predict churn. These models are evaluated using appropriate metrics, and finally the results are translated into business insights and recommendations to help the bank improve customer retention.</a:t>
            </a:r>
          </a:p>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5</a:t>
            </a:fld>
            <a:endParaRPr lang="en-US"/>
          </a:p>
        </p:txBody>
      </p:sp>
    </p:spTree>
    <p:extLst>
      <p:ext uri="{BB962C8B-B14F-4D97-AF65-F5344CB8AC3E}">
        <p14:creationId xmlns:p14="http://schemas.microsoft.com/office/powerpoint/2010/main" val="1921176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6</a:t>
            </a:fld>
            <a:endParaRPr lang="en-US"/>
          </a:p>
        </p:txBody>
      </p:sp>
    </p:spTree>
    <p:extLst>
      <p:ext uri="{BB962C8B-B14F-4D97-AF65-F5344CB8AC3E}">
        <p14:creationId xmlns:p14="http://schemas.microsoft.com/office/powerpoint/2010/main" val="3666242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This imbalance means that accuracy alone is not a reliable metric for evaluating our models. Instead, we focus on metrics such as recall and F1-score to better capture the model’s ability to detect customers who are likely to churn.</a:t>
            </a:r>
          </a:p>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8</a:t>
            </a:fld>
            <a:endParaRPr lang="en-US"/>
          </a:p>
        </p:txBody>
      </p:sp>
    </p:spTree>
    <p:extLst>
      <p:ext uri="{BB962C8B-B14F-4D97-AF65-F5344CB8AC3E}">
        <p14:creationId xmlns:p14="http://schemas.microsoft.com/office/powerpoint/2010/main" val="3102940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visualization shows that churned customers tend to be slightly older on average, while younger customers are more likely to stay. This suggests that age may influence customer retention and therefore should be considered an important feature in the predictive churn model.</a:t>
            </a:r>
          </a:p>
        </p:txBody>
      </p:sp>
      <p:sp>
        <p:nvSpPr>
          <p:cNvPr id="4" name="Slide Number Placeholder 3"/>
          <p:cNvSpPr>
            <a:spLocks noGrp="1"/>
          </p:cNvSpPr>
          <p:nvPr>
            <p:ph type="sldNum" sz="quarter" idx="5"/>
          </p:nvPr>
        </p:nvSpPr>
        <p:spPr/>
        <p:txBody>
          <a:bodyPr/>
          <a:lstStyle/>
          <a:p>
            <a:fld id="{5765C2D7-9E94-2045-8E24-80DD133EE3A9}" type="slidenum">
              <a:rPr lang="en-US" smtClean="0"/>
              <a:t>9</a:t>
            </a:fld>
            <a:endParaRPr lang="en-US"/>
          </a:p>
        </p:txBody>
      </p:sp>
    </p:spTree>
    <p:extLst>
      <p:ext uri="{BB962C8B-B14F-4D97-AF65-F5344CB8AC3E}">
        <p14:creationId xmlns:p14="http://schemas.microsoft.com/office/powerpoint/2010/main" val="3082415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Where should the bank focus retention strategies?</a:t>
            </a:r>
          </a:p>
          <a:p>
            <a:r>
              <a:rPr lang="en-US" sz="1200" kern="1200" dirty="0">
                <a:solidFill>
                  <a:schemeClr val="tx1"/>
                </a:solidFill>
                <a:effectLst/>
                <a:latin typeface="+mn-lt"/>
                <a:ea typeface="+mn-ea"/>
                <a:cs typeface="+mn-cs"/>
              </a:rPr>
              <a:t> With this I deed advise the bank to  focus their retention strategies in Germany</a:t>
            </a:r>
          </a:p>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10</a:t>
            </a:fld>
            <a:endParaRPr lang="en-US"/>
          </a:p>
        </p:txBody>
      </p:sp>
    </p:spTree>
    <p:extLst>
      <p:ext uri="{BB962C8B-B14F-4D97-AF65-F5344CB8AC3E}">
        <p14:creationId xmlns:p14="http://schemas.microsoft.com/office/powerpoint/2010/main" val="529816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600" dirty="0"/>
              <a:t>onboarding programs</a:t>
            </a:r>
          </a:p>
          <a:p>
            <a:r>
              <a:rPr lang="en-US" sz="1600" dirty="0"/>
              <a:t>early customer engagement</a:t>
            </a:r>
          </a:p>
          <a:p>
            <a:endParaRPr lang="en-US" sz="1600" dirty="0"/>
          </a:p>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11</a:t>
            </a:fld>
            <a:endParaRPr lang="en-US"/>
          </a:p>
        </p:txBody>
      </p:sp>
    </p:spTree>
    <p:extLst>
      <p:ext uri="{BB962C8B-B14F-4D97-AF65-F5344CB8AC3E}">
        <p14:creationId xmlns:p14="http://schemas.microsoft.com/office/powerpoint/2010/main" val="2075123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evaluate the model, we use several metrics. Accuracy shows how often the model is correct overall. Precision measures how many predicted churn cases are actually correct, while recall tells us how well the model identifies customers who truly churn. The F1-score balances precision and recall, and ROC-AUC measures how well the model distinguishes between churned and non-churned customers.</a:t>
            </a:r>
          </a:p>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13</a:t>
            </a:fld>
            <a:endParaRPr lang="en-US"/>
          </a:p>
        </p:txBody>
      </p:sp>
    </p:spTree>
    <p:extLst>
      <p:ext uri="{BB962C8B-B14F-4D97-AF65-F5344CB8AC3E}">
        <p14:creationId xmlns:p14="http://schemas.microsoft.com/office/powerpoint/2010/main" val="681740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Different machine learning algorithms capture patterns in data differently. I tested multiple models—such as Logistic Regression, Random Forest, Gradient Boosting, and XGBoost—to compare their predictive performance. Ensemble models like Random Forest and Gradient Boosting often perform well because they combine multiple decision trees and reduce variance, which can improve prediction accuracy.</a:t>
            </a:r>
          </a:p>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14</a:t>
            </a:fld>
            <a:endParaRPr lang="en-US"/>
          </a:p>
        </p:txBody>
      </p:sp>
    </p:spTree>
    <p:extLst>
      <p:ext uri="{BB962C8B-B14F-4D97-AF65-F5344CB8AC3E}">
        <p14:creationId xmlns:p14="http://schemas.microsoft.com/office/powerpoint/2010/main" val="19030107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chart compares how well each model detects customers who are likely to leave the bank. Recall measures how many churn customers the model successfully identifies, while the F1 score shows the overall balance between correctly detecting churn and avoiding false alarms.</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Additional behavioral data would likely improve predictions. For example, transaction frequency, digital banking usage, customer support interactions, and complaint history could provide deeper insights into customer engagement and satisfaction, which are strong indicators of churn risk.</a:t>
            </a:r>
          </a:p>
          <a:p>
            <a:endParaRPr lang="en-US" sz="1200" kern="1200" dirty="0">
              <a:solidFill>
                <a:schemeClr val="tx1"/>
              </a:solidFill>
              <a:effectLst/>
              <a:latin typeface="+mn-lt"/>
              <a:ea typeface="+mn-ea"/>
              <a:cs typeface="+mn-cs"/>
            </a:endParaRPr>
          </a:p>
          <a:p>
            <a:endParaRPr lang="en-US" b="0" dirty="0"/>
          </a:p>
        </p:txBody>
      </p:sp>
      <p:sp>
        <p:nvSpPr>
          <p:cNvPr id="4" name="Slide Number Placeholder 3"/>
          <p:cNvSpPr>
            <a:spLocks noGrp="1"/>
          </p:cNvSpPr>
          <p:nvPr>
            <p:ph type="sldNum" sz="quarter" idx="5"/>
          </p:nvPr>
        </p:nvSpPr>
        <p:spPr/>
        <p:txBody>
          <a:bodyPr/>
          <a:lstStyle/>
          <a:p>
            <a:fld id="{5765C2D7-9E94-2045-8E24-80DD133EE3A9}" type="slidenum">
              <a:rPr lang="en-US" smtClean="0"/>
              <a:t>15</a:t>
            </a:fld>
            <a:endParaRPr lang="en-US"/>
          </a:p>
        </p:txBody>
      </p:sp>
    </p:spTree>
    <p:extLst>
      <p:ext uri="{BB962C8B-B14F-4D97-AF65-F5344CB8AC3E}">
        <p14:creationId xmlns:p14="http://schemas.microsoft.com/office/powerpoint/2010/main" val="34097281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focus on recall and F1-score instead of just accuracy?</a:t>
            </a:r>
          </a:p>
          <a:p>
            <a:br>
              <a:rPr lang="en-US" dirty="0"/>
            </a:br>
            <a:endParaRPr lang="en-US" dirty="0"/>
          </a:p>
          <a:p>
            <a:r>
              <a:rPr lang="en-US" b="1" dirty="0"/>
              <a:t>Suggested Answer:</a:t>
            </a:r>
            <a:endParaRPr lang="en-US" dirty="0"/>
          </a:p>
          <a:p>
            <a:r>
              <a:rPr lang="en-US" dirty="0"/>
              <a:t>Recall is important because it measures how well the model identifies customers who actually churn. Missing a churner could mean losing a valuable customer. F1-score balances precision and recall, which helps evaluate the model when dealing with imbalanced data.</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future improvements, techniques like SMOTE, class weighting, or resampling could be used to help the model learn the minority class more effectively.</a:t>
            </a:r>
          </a:p>
          <a:p>
            <a:endParaRPr lang="en-US" dirty="0"/>
          </a:p>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16</a:t>
            </a:fld>
            <a:endParaRPr lang="en-US"/>
          </a:p>
        </p:txBody>
      </p:sp>
    </p:spTree>
    <p:extLst>
      <p:ext uri="{BB962C8B-B14F-4D97-AF65-F5344CB8AC3E}">
        <p14:creationId xmlns:p14="http://schemas.microsoft.com/office/powerpoint/2010/main" val="1902665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17</a:t>
            </a:fld>
            <a:endParaRPr lang="en-US"/>
          </a:p>
        </p:txBody>
      </p:sp>
    </p:spTree>
    <p:extLst>
      <p:ext uri="{BB962C8B-B14F-4D97-AF65-F5344CB8AC3E}">
        <p14:creationId xmlns:p14="http://schemas.microsoft.com/office/powerpoint/2010/main" val="30539103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14330"/>
                </a:solidFill>
                <a:latin typeface="Montserrat" pitchFamily="2" charset="77"/>
              </a:rPr>
              <a:t>Based on the analysis and model results, several recommendations can be made to help reduce churn and improve customer loyalty :</a:t>
            </a:r>
          </a:p>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18</a:t>
            </a:fld>
            <a:endParaRPr lang="en-US"/>
          </a:p>
        </p:txBody>
      </p:sp>
    </p:spTree>
    <p:extLst>
      <p:ext uri="{BB962C8B-B14F-4D97-AF65-F5344CB8AC3E}">
        <p14:creationId xmlns:p14="http://schemas.microsoft.com/office/powerpoint/2010/main" val="14863174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F6FC1-9A3C-FA80-B71B-7F7B25C7C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A17E8-C44C-BE16-BEF2-9429FF63EE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76ECF1-A059-C832-4C4A-D5F699F37031}"/>
              </a:ext>
            </a:extLst>
          </p:cNvPr>
          <p:cNvSpPr>
            <a:spLocks noGrp="1"/>
          </p:cNvSpPr>
          <p:nvPr>
            <p:ph type="body" idx="1"/>
          </p:nvPr>
        </p:nvSpPr>
        <p:spPr/>
        <p:txBody>
          <a:bodyPr/>
          <a:lstStyle/>
          <a:p>
            <a:r>
              <a:rPr lang="en-US" b="1" dirty="0"/>
              <a:t>The dataset appears to be imbalanced with around 80% non-churn and 20% churn. How did you address this imbalance during model training?</a:t>
            </a:r>
            <a:endParaRPr lang="en-US" dirty="0"/>
          </a:p>
          <a:p>
            <a:br>
              <a:rPr lang="en-US" dirty="0"/>
            </a:br>
            <a:endParaRPr lang="en-US" dirty="0"/>
          </a:p>
          <a:p>
            <a:r>
              <a:rPr lang="en-US" dirty="0"/>
              <a:t>Possible follow-up:</a:t>
            </a:r>
          </a:p>
          <a:p>
            <a:r>
              <a:rPr lang="en-US" dirty="0"/>
              <a:t>Did you use </a:t>
            </a:r>
            <a:r>
              <a:rPr lang="en-US" b="1" dirty="0"/>
              <a:t>SMOTE, class weighting, or resampling?</a:t>
            </a:r>
            <a:endParaRPr lang="en-US" dirty="0"/>
          </a:p>
          <a:p>
            <a:endParaRPr lang="en-US" dirty="0"/>
          </a:p>
        </p:txBody>
      </p:sp>
      <p:sp>
        <p:nvSpPr>
          <p:cNvPr id="4" name="Slide Number Placeholder 3">
            <a:extLst>
              <a:ext uri="{FF2B5EF4-FFF2-40B4-BE49-F238E27FC236}">
                <a16:creationId xmlns:a16="http://schemas.microsoft.com/office/drawing/2014/main" id="{9C02F757-44A0-10F6-7744-A8B4AA87404A}"/>
              </a:ext>
            </a:extLst>
          </p:cNvPr>
          <p:cNvSpPr>
            <a:spLocks noGrp="1"/>
          </p:cNvSpPr>
          <p:nvPr>
            <p:ph type="sldNum" sz="quarter" idx="5"/>
          </p:nvPr>
        </p:nvSpPr>
        <p:spPr/>
        <p:txBody>
          <a:bodyPr/>
          <a:lstStyle/>
          <a:p>
            <a:fld id="{5765C2D7-9E94-2045-8E24-80DD133EE3A9}" type="slidenum">
              <a:rPr lang="en-US" smtClean="0"/>
              <a:t>20</a:t>
            </a:fld>
            <a:endParaRPr lang="en-US"/>
          </a:p>
        </p:txBody>
      </p:sp>
    </p:spTree>
    <p:extLst>
      <p:ext uri="{BB962C8B-B14F-4D97-AF65-F5344CB8AC3E}">
        <p14:creationId xmlns:p14="http://schemas.microsoft.com/office/powerpoint/2010/main" val="5951763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2E219-3B17-29DC-C461-CEE20AFBE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0D76E-00D2-58F6-C634-A74143F1D39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3373D6-469F-9028-369E-582EA317894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14330"/>
                </a:solidFill>
                <a:latin typeface="Montserrat" pitchFamily="2" charset="77"/>
              </a:rPr>
              <a:t>Several future improvements could enhance the project and transform it from a predictive model into a decision-support system for customer retention.</a:t>
            </a:r>
          </a:p>
          <a:p>
            <a:endParaRPr lang="en-US" dirty="0"/>
          </a:p>
        </p:txBody>
      </p:sp>
      <p:sp>
        <p:nvSpPr>
          <p:cNvPr id="4" name="Slide Number Placeholder 3">
            <a:extLst>
              <a:ext uri="{FF2B5EF4-FFF2-40B4-BE49-F238E27FC236}">
                <a16:creationId xmlns:a16="http://schemas.microsoft.com/office/drawing/2014/main" id="{6D144A35-4703-726B-F5EF-C284F8857931}"/>
              </a:ext>
            </a:extLst>
          </p:cNvPr>
          <p:cNvSpPr>
            <a:spLocks noGrp="1"/>
          </p:cNvSpPr>
          <p:nvPr>
            <p:ph type="sldNum" sz="quarter" idx="5"/>
          </p:nvPr>
        </p:nvSpPr>
        <p:spPr/>
        <p:txBody>
          <a:bodyPr/>
          <a:lstStyle/>
          <a:p>
            <a:fld id="{5765C2D7-9E94-2045-8E24-80DD133EE3A9}" type="slidenum">
              <a:rPr lang="en-US" smtClean="0"/>
              <a:t>21</a:t>
            </a:fld>
            <a:endParaRPr lang="en-US"/>
          </a:p>
        </p:txBody>
      </p:sp>
    </p:spTree>
    <p:extLst>
      <p:ext uri="{BB962C8B-B14F-4D97-AF65-F5344CB8AC3E}">
        <p14:creationId xmlns:p14="http://schemas.microsoft.com/office/powerpoint/2010/main" val="35305343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22</a:t>
            </a:fld>
            <a:endParaRPr lang="en-US"/>
          </a:p>
        </p:txBody>
      </p:sp>
    </p:spTree>
    <p:extLst>
      <p:ext uri="{BB962C8B-B14F-4D97-AF65-F5344CB8AC3E}">
        <p14:creationId xmlns:p14="http://schemas.microsoft.com/office/powerpoint/2010/main" val="8215400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5C2D7-9E94-2045-8E24-80DD133EE3A9}" type="slidenum">
              <a:rPr lang="en-US" smtClean="0"/>
              <a:t>23</a:t>
            </a:fld>
            <a:endParaRPr lang="en-US"/>
          </a:p>
        </p:txBody>
      </p:sp>
    </p:spTree>
    <p:extLst>
      <p:ext uri="{BB962C8B-B14F-4D97-AF65-F5344CB8AC3E}">
        <p14:creationId xmlns:p14="http://schemas.microsoft.com/office/powerpoint/2010/main" val="3007755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sv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4143"/>
        </a:solidFill>
        <a:effectLst/>
      </p:bgPr>
    </p:bg>
    <p:spTree>
      <p:nvGrpSpPr>
        <p:cNvPr id="1" name=""/>
        <p:cNvGrpSpPr/>
        <p:nvPr/>
      </p:nvGrpSpPr>
      <p:grpSpPr>
        <a:xfrm>
          <a:off x="0" y="0"/>
          <a:ext cx="0" cy="0"/>
          <a:chOff x="0" y="0"/>
          <a:chExt cx="0" cy="0"/>
        </a:xfrm>
      </p:grpSpPr>
      <p:sp>
        <p:nvSpPr>
          <p:cNvPr id="2" name="Freeform 2"/>
          <p:cNvSpPr/>
          <p:nvPr/>
        </p:nvSpPr>
        <p:spPr>
          <a:xfrm flipV="1">
            <a:off x="7012622" y="-571500"/>
            <a:ext cx="8389173" cy="11064856"/>
          </a:xfrm>
          <a:custGeom>
            <a:avLst/>
            <a:gdLst/>
            <a:ahLst/>
            <a:cxnLst/>
            <a:rect l="l" t="t" r="r" b="b"/>
            <a:pathLst>
              <a:path w="8389173" h="11064856">
                <a:moveTo>
                  <a:pt x="0" y="11064856"/>
                </a:moveTo>
                <a:lnTo>
                  <a:pt x="8389173" y="11064856"/>
                </a:lnTo>
                <a:lnTo>
                  <a:pt x="8389173" y="0"/>
                </a:lnTo>
                <a:lnTo>
                  <a:pt x="0" y="0"/>
                </a:lnTo>
                <a:lnTo>
                  <a:pt x="0" y="1106485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1887200" y="-364338"/>
            <a:ext cx="8389173" cy="11064856"/>
          </a:xfrm>
          <a:custGeom>
            <a:avLst/>
            <a:gdLst/>
            <a:ahLst/>
            <a:cxnLst/>
            <a:rect l="l" t="t" r="r" b="b"/>
            <a:pathLst>
              <a:path w="8389173" h="11064856">
                <a:moveTo>
                  <a:pt x="0" y="0"/>
                </a:moveTo>
                <a:lnTo>
                  <a:pt x="8389173" y="0"/>
                </a:lnTo>
                <a:lnTo>
                  <a:pt x="8389173" y="11064856"/>
                </a:lnTo>
                <a:lnTo>
                  <a:pt x="0" y="110648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p:cNvSpPr txBox="1"/>
          <p:nvPr/>
        </p:nvSpPr>
        <p:spPr>
          <a:xfrm>
            <a:off x="838103" y="3690763"/>
            <a:ext cx="12115897" cy="2954655"/>
          </a:xfrm>
          <a:prstGeom prst="rect">
            <a:avLst/>
          </a:prstGeom>
        </p:spPr>
        <p:txBody>
          <a:bodyPr wrap="square" lIns="0" tIns="0" rIns="0" bIns="0" rtlCol="0" anchor="t">
            <a:spAutoFit/>
          </a:bodyPr>
          <a:lstStyle/>
          <a:p>
            <a:pPr algn="l">
              <a:spcBef>
                <a:spcPct val="0"/>
              </a:spcBef>
            </a:pPr>
            <a:r>
              <a:rPr lang="en-US" sz="9600" b="1" dirty="0">
                <a:solidFill>
                  <a:srgbClr val="F5E5E1"/>
                </a:solidFill>
                <a:latin typeface="Montserrat Bold"/>
                <a:ea typeface="Montserrat Bold"/>
                <a:cs typeface="Montserrat Bold"/>
                <a:sym typeface="Montserrat Bold"/>
              </a:rPr>
              <a:t>Customer Churn Prediction</a:t>
            </a:r>
          </a:p>
        </p:txBody>
      </p:sp>
      <p:sp>
        <p:nvSpPr>
          <p:cNvPr id="8" name="TextBox 8"/>
          <p:cNvSpPr txBox="1"/>
          <p:nvPr/>
        </p:nvSpPr>
        <p:spPr>
          <a:xfrm>
            <a:off x="12349536" y="981075"/>
            <a:ext cx="4909764" cy="389255"/>
          </a:xfrm>
          <a:prstGeom prst="rect">
            <a:avLst/>
          </a:prstGeom>
        </p:spPr>
        <p:txBody>
          <a:bodyPr lIns="0" tIns="0" rIns="0" bIns="0" rtlCol="0" anchor="t">
            <a:spAutoFit/>
          </a:bodyPr>
          <a:lstStyle/>
          <a:p>
            <a:pPr algn="r">
              <a:lnSpc>
                <a:spcPts val="3220"/>
              </a:lnSpc>
              <a:spcBef>
                <a:spcPct val="0"/>
              </a:spcBef>
            </a:pPr>
            <a:r>
              <a:rPr lang="en-US" sz="2300" dirty="0">
                <a:solidFill>
                  <a:srgbClr val="F5E5E1"/>
                </a:solidFill>
                <a:latin typeface="Montserrat"/>
                <a:ea typeface="Montserrat"/>
                <a:cs typeface="Montserrat"/>
                <a:sym typeface="Montserrat"/>
              </a:rPr>
              <a:t>Presented By :</a:t>
            </a:r>
          </a:p>
        </p:txBody>
      </p:sp>
      <p:sp>
        <p:nvSpPr>
          <p:cNvPr id="9" name="TextBox 9"/>
          <p:cNvSpPr txBox="1"/>
          <p:nvPr/>
        </p:nvSpPr>
        <p:spPr>
          <a:xfrm>
            <a:off x="12349536" y="1472345"/>
            <a:ext cx="4909764" cy="451021"/>
          </a:xfrm>
          <a:prstGeom prst="rect">
            <a:avLst/>
          </a:prstGeom>
        </p:spPr>
        <p:txBody>
          <a:bodyPr lIns="0" tIns="0" rIns="0" bIns="0" rtlCol="0" anchor="t">
            <a:spAutoFit/>
          </a:bodyPr>
          <a:lstStyle/>
          <a:p>
            <a:pPr algn="r">
              <a:lnSpc>
                <a:spcPts val="3779"/>
              </a:lnSpc>
              <a:spcBef>
                <a:spcPct val="0"/>
              </a:spcBef>
            </a:pPr>
            <a:r>
              <a:rPr lang="en-US" sz="2699" b="1" dirty="0">
                <a:solidFill>
                  <a:srgbClr val="F5E5E1"/>
                </a:solidFill>
                <a:latin typeface="Montserrat Semi-Bold"/>
                <a:ea typeface="Montserrat Semi-Bold"/>
                <a:cs typeface="Montserrat Semi-Bold"/>
                <a:sym typeface="Montserrat Semi-Bold"/>
              </a:rPr>
              <a:t>Timothy Ajayi</a:t>
            </a:r>
          </a:p>
        </p:txBody>
      </p:sp>
      <p:sp>
        <p:nvSpPr>
          <p:cNvPr id="11" name="TextBox 11"/>
          <p:cNvSpPr txBox="1"/>
          <p:nvPr/>
        </p:nvSpPr>
        <p:spPr>
          <a:xfrm>
            <a:off x="838102" y="7277100"/>
            <a:ext cx="16421198" cy="984885"/>
          </a:xfrm>
          <a:prstGeom prst="rect">
            <a:avLst/>
          </a:prstGeom>
        </p:spPr>
        <p:txBody>
          <a:bodyPr wrap="square" lIns="0" tIns="0" rIns="0" bIns="0" rtlCol="0" anchor="t">
            <a:spAutoFit/>
          </a:bodyPr>
          <a:lstStyle/>
          <a:p>
            <a:pPr>
              <a:spcBef>
                <a:spcPct val="0"/>
              </a:spcBef>
            </a:pPr>
            <a:r>
              <a:rPr lang="en-US" sz="3200" b="1" dirty="0">
                <a:solidFill>
                  <a:srgbClr val="F5E5E1"/>
                </a:solidFill>
                <a:latin typeface="Montserrat Semi-Bold"/>
                <a:ea typeface="Montserrat Semi-Bold"/>
                <a:cs typeface="Montserrat Semi-Bold"/>
                <a:sym typeface="Montserrat Semi-Bold"/>
              </a:rPr>
              <a:t>Applying machine learning to predict customer churn and strengthen long-term customer relationships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1410238" y="1363834"/>
            <a:ext cx="8923166" cy="8923166"/>
          </a:xfrm>
          <a:custGeom>
            <a:avLst/>
            <a:gdLst/>
            <a:ahLst/>
            <a:cxnLst/>
            <a:rect l="l" t="t" r="r" b="b"/>
            <a:pathLst>
              <a:path w="8923166" h="8923166">
                <a:moveTo>
                  <a:pt x="0" y="0"/>
                </a:moveTo>
                <a:lnTo>
                  <a:pt x="8923166" y="0"/>
                </a:lnTo>
                <a:lnTo>
                  <a:pt x="8923166" y="8923166"/>
                </a:lnTo>
                <a:lnTo>
                  <a:pt x="0" y="89231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028700" y="2496859"/>
            <a:ext cx="8293267" cy="953135"/>
          </a:xfrm>
          <a:prstGeom prst="rect">
            <a:avLst/>
          </a:prstGeom>
        </p:spPr>
        <p:txBody>
          <a:bodyPr lIns="0" tIns="0" rIns="0" bIns="0" rtlCol="0" anchor="t">
            <a:spAutoFit/>
          </a:bodyPr>
          <a:lstStyle/>
          <a:p>
            <a:pPr algn="l">
              <a:lnSpc>
                <a:spcPts val="7840"/>
              </a:lnSpc>
              <a:spcBef>
                <a:spcPct val="0"/>
              </a:spcBef>
            </a:pPr>
            <a:r>
              <a:rPr lang="en-US" sz="5600" b="1">
                <a:solidFill>
                  <a:srgbClr val="174143"/>
                </a:solidFill>
                <a:latin typeface="Montserrat Bold"/>
                <a:ea typeface="Montserrat Bold"/>
                <a:cs typeface="Montserrat Bold"/>
                <a:sym typeface="Montserrat Bold"/>
              </a:rPr>
              <a:t>INTRODUCTION</a:t>
            </a:r>
          </a:p>
        </p:txBody>
      </p:sp>
      <p:sp>
        <p:nvSpPr>
          <p:cNvPr id="7" name="TextBox 7"/>
          <p:cNvSpPr txBox="1"/>
          <p:nvPr/>
        </p:nvSpPr>
        <p:spPr>
          <a:xfrm>
            <a:off x="1028700" y="3936588"/>
            <a:ext cx="9996148" cy="5362622"/>
          </a:xfrm>
          <a:prstGeom prst="rect">
            <a:avLst/>
          </a:prstGeom>
        </p:spPr>
        <p:txBody>
          <a:bodyPr lIns="0" tIns="0" rIns="0" bIns="0" rtlCol="0" anchor="t">
            <a:spAutoFit/>
          </a:bodyPr>
          <a:lstStyle/>
          <a:p>
            <a:pPr algn="just">
              <a:lnSpc>
                <a:spcPts val="3499"/>
              </a:lnSpc>
              <a:spcBef>
                <a:spcPct val="0"/>
              </a:spcBef>
            </a:pPr>
            <a:r>
              <a:rPr lang="en-US" sz="2800" b="1" dirty="0">
                <a:solidFill>
                  <a:srgbClr val="114330"/>
                </a:solidFill>
                <a:latin typeface="Montserrat" pitchFamily="2" charset="77"/>
              </a:rPr>
              <a:t>Customer churn is a major challenge for banks because losing customers reduces long-term revenue and customer lifetime value.</a:t>
            </a:r>
          </a:p>
          <a:p>
            <a:pPr algn="just">
              <a:lnSpc>
                <a:spcPts val="3499"/>
              </a:lnSpc>
              <a:spcBef>
                <a:spcPct val="0"/>
              </a:spcBef>
            </a:pPr>
            <a:endParaRPr lang="en-US" sz="2800" b="1" dirty="0">
              <a:solidFill>
                <a:srgbClr val="114330"/>
              </a:solidFill>
              <a:latin typeface="Montserrat" pitchFamily="2" charset="77"/>
            </a:endParaRPr>
          </a:p>
          <a:p>
            <a:pPr algn="just">
              <a:lnSpc>
                <a:spcPts val="3499"/>
              </a:lnSpc>
              <a:spcBef>
                <a:spcPct val="0"/>
              </a:spcBef>
            </a:pPr>
            <a:r>
              <a:rPr lang="en-US" sz="2800" b="1" dirty="0">
                <a:solidFill>
                  <a:srgbClr val="114330"/>
                </a:solidFill>
                <a:latin typeface="Montserrat" pitchFamily="2" charset="77"/>
              </a:rPr>
              <a:t>Since acquiring new customers is more expensive than retaining existing ones, early identification of at-risk customers is critical.</a:t>
            </a:r>
          </a:p>
          <a:p>
            <a:pPr algn="just">
              <a:lnSpc>
                <a:spcPts val="3499"/>
              </a:lnSpc>
              <a:spcBef>
                <a:spcPct val="0"/>
              </a:spcBef>
            </a:pPr>
            <a:endParaRPr lang="en-US" sz="2800" b="1" dirty="0">
              <a:solidFill>
                <a:srgbClr val="114330"/>
              </a:solidFill>
              <a:latin typeface="Montserrat" pitchFamily="2" charset="77"/>
            </a:endParaRPr>
          </a:p>
          <a:p>
            <a:pPr algn="just">
              <a:lnSpc>
                <a:spcPts val="3499"/>
              </a:lnSpc>
              <a:spcBef>
                <a:spcPct val="0"/>
              </a:spcBef>
            </a:pPr>
            <a:r>
              <a:rPr lang="en-US" sz="2800" b="1" dirty="0">
                <a:solidFill>
                  <a:srgbClr val="114330"/>
                </a:solidFill>
                <a:latin typeface="Montserrat" pitchFamily="2" charset="77"/>
              </a:rPr>
              <a:t>This project uses machine learning to predict customer churn and support proactive, data-driven retention strategies.</a:t>
            </a:r>
          </a:p>
          <a:p>
            <a:pPr algn="just">
              <a:lnSpc>
                <a:spcPts val="3499"/>
              </a:lnSpc>
              <a:spcBef>
                <a:spcPct val="0"/>
              </a:spcBef>
            </a:pPr>
            <a:endParaRPr lang="en-US" sz="2800" b="1" dirty="0">
              <a:solidFill>
                <a:srgbClr val="114330"/>
              </a:solidFill>
              <a:latin typeface="Montserrat" pitchFamily="2" charset="7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4143"/>
        </a:solidFill>
        <a:effectLst/>
      </p:bgPr>
    </p:bg>
    <p:spTree>
      <p:nvGrpSpPr>
        <p:cNvPr id="1" name=""/>
        <p:cNvGrpSpPr/>
        <p:nvPr/>
      </p:nvGrpSpPr>
      <p:grpSpPr>
        <a:xfrm>
          <a:off x="0" y="0"/>
          <a:ext cx="0" cy="0"/>
          <a:chOff x="0" y="0"/>
          <a:chExt cx="0" cy="0"/>
        </a:xfrm>
      </p:grpSpPr>
      <p:sp>
        <p:nvSpPr>
          <p:cNvPr id="3" name="Freeform 3"/>
          <p:cNvSpPr/>
          <p:nvPr/>
        </p:nvSpPr>
        <p:spPr>
          <a:xfrm>
            <a:off x="10843953" y="-1028700"/>
            <a:ext cx="6415347" cy="10287000"/>
          </a:xfrm>
          <a:custGeom>
            <a:avLst/>
            <a:gdLst/>
            <a:ahLst/>
            <a:cxnLst/>
            <a:rect l="l" t="t" r="r" b="b"/>
            <a:pathLst>
              <a:path w="6415347" h="10287000">
                <a:moveTo>
                  <a:pt x="0" y="0"/>
                </a:moveTo>
                <a:lnTo>
                  <a:pt x="6415347" y="0"/>
                </a:lnTo>
                <a:lnTo>
                  <a:pt x="6415347" y="10287000"/>
                </a:lnTo>
                <a:lnTo>
                  <a:pt x="0" y="102870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6" name="TextBox 6"/>
          <p:cNvSpPr txBox="1"/>
          <p:nvPr/>
        </p:nvSpPr>
        <p:spPr>
          <a:xfrm>
            <a:off x="1046988" y="4605009"/>
            <a:ext cx="8972210" cy="4739759"/>
          </a:xfrm>
          <a:prstGeom prst="rect">
            <a:avLst/>
          </a:prstGeom>
        </p:spPr>
        <p:txBody>
          <a:bodyPr wrap="square" lIns="0" tIns="0" rIns="0" bIns="0" rtlCol="0" anchor="t">
            <a:spAutoFit/>
          </a:bodyPr>
          <a:lstStyle/>
          <a:p>
            <a:pPr lvl="0"/>
            <a:r>
              <a:rPr lang="en-US" sz="2800" b="1" dirty="0">
                <a:solidFill>
                  <a:srgbClr val="F5E5E1"/>
                </a:solidFill>
              </a:rPr>
              <a:t>The main objective of this project is to develop a predictive model that identifies customers who are likely to churn.</a:t>
            </a:r>
          </a:p>
          <a:p>
            <a:pPr lvl="0"/>
            <a:endParaRPr lang="en-US" sz="2800" b="1" dirty="0">
              <a:solidFill>
                <a:srgbClr val="F5E5E1"/>
              </a:solidFill>
            </a:endParaRPr>
          </a:p>
          <a:p>
            <a:pPr lvl="0"/>
            <a:r>
              <a:rPr lang="en-US" sz="2800" dirty="0">
                <a:solidFill>
                  <a:srgbClr val="F5E5E1"/>
                </a:solidFill>
              </a:rPr>
              <a:t>Specific goals include:</a:t>
            </a:r>
          </a:p>
          <a:p>
            <a:pPr marL="342900" lvl="0" indent="-342900">
              <a:buFont typeface="Arial" panose="020B0604020202020204" pitchFamily="34" charset="0"/>
              <a:buChar char="•"/>
            </a:pPr>
            <a:r>
              <a:rPr lang="en-US" sz="2800" dirty="0">
                <a:solidFill>
                  <a:srgbClr val="F5E5E1"/>
                </a:solidFill>
              </a:rPr>
              <a:t>Predict which customers are at risk of leaving the bank</a:t>
            </a:r>
          </a:p>
          <a:p>
            <a:pPr marL="342900" lvl="0" indent="-342900">
              <a:buFont typeface="Arial" panose="020B0604020202020204" pitchFamily="34" charset="0"/>
              <a:buChar char="•"/>
            </a:pPr>
            <a:r>
              <a:rPr lang="en-US" sz="2800" dirty="0">
                <a:solidFill>
                  <a:srgbClr val="F5E5E1"/>
                </a:solidFill>
              </a:rPr>
              <a:t>Identify key factors that influence churn</a:t>
            </a:r>
          </a:p>
          <a:p>
            <a:pPr marL="342900" lvl="0" indent="-342900">
              <a:buFont typeface="Arial" panose="020B0604020202020204" pitchFamily="34" charset="0"/>
              <a:buChar char="•"/>
            </a:pPr>
            <a:r>
              <a:rPr lang="en-US" sz="2800" dirty="0">
                <a:solidFill>
                  <a:srgbClr val="F5E5E1"/>
                </a:solidFill>
              </a:rPr>
              <a:t>Compare multiple machine learning models</a:t>
            </a:r>
          </a:p>
          <a:p>
            <a:pPr marL="342900" lvl="0" indent="-342900">
              <a:buFont typeface="Arial" panose="020B0604020202020204" pitchFamily="34" charset="0"/>
              <a:buChar char="•"/>
            </a:pPr>
            <a:r>
              <a:rPr lang="en-US" sz="2800" dirty="0">
                <a:solidFill>
                  <a:srgbClr val="F5E5E1"/>
                </a:solidFill>
              </a:rPr>
              <a:t>Provide insights that support customer retention strategies</a:t>
            </a:r>
            <a:br>
              <a:rPr lang="en-US" sz="2800" dirty="0">
                <a:solidFill>
                  <a:srgbClr val="F5E5E1"/>
                </a:solidFill>
              </a:rPr>
            </a:br>
            <a:endParaRPr lang="en-US" sz="2800" dirty="0">
              <a:solidFill>
                <a:srgbClr val="F5E5E1"/>
              </a:solidFill>
            </a:endParaRPr>
          </a:p>
          <a:p>
            <a:pPr lvl="0"/>
            <a:r>
              <a:rPr lang="en-US" sz="2800" dirty="0">
                <a:solidFill>
                  <a:srgbClr val="F5E5E1"/>
                </a:solidFill>
              </a:rPr>
              <a:t>By accurately identifying high-risk customers, the bank can take preventive actions before customers leave.</a:t>
            </a:r>
          </a:p>
        </p:txBody>
      </p:sp>
      <p:sp>
        <p:nvSpPr>
          <p:cNvPr id="8" name="TextBox 8"/>
          <p:cNvSpPr txBox="1"/>
          <p:nvPr/>
        </p:nvSpPr>
        <p:spPr>
          <a:xfrm>
            <a:off x="1028700" y="2805253"/>
            <a:ext cx="8293267" cy="953135"/>
          </a:xfrm>
          <a:prstGeom prst="rect">
            <a:avLst/>
          </a:prstGeom>
        </p:spPr>
        <p:txBody>
          <a:bodyPr lIns="0" tIns="0" rIns="0" bIns="0" rtlCol="0" anchor="t">
            <a:spAutoFit/>
          </a:bodyPr>
          <a:lstStyle/>
          <a:p>
            <a:pPr algn="l">
              <a:lnSpc>
                <a:spcPts val="7840"/>
              </a:lnSpc>
              <a:spcBef>
                <a:spcPct val="0"/>
              </a:spcBef>
            </a:pPr>
            <a:r>
              <a:rPr lang="en-US" sz="5600" b="1" dirty="0">
                <a:solidFill>
                  <a:srgbClr val="F5E5E1"/>
                </a:solidFill>
                <a:latin typeface="Montserrat Bold"/>
                <a:ea typeface="Montserrat Bold"/>
                <a:cs typeface="Montserrat Bold"/>
                <a:sym typeface="Montserrat Bold"/>
              </a:rPr>
              <a:t>Objective: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4143"/>
        </a:solidFill>
        <a:effectLst/>
      </p:bgPr>
    </p:bg>
    <p:spTree>
      <p:nvGrpSpPr>
        <p:cNvPr id="1" name=""/>
        <p:cNvGrpSpPr/>
        <p:nvPr/>
      </p:nvGrpSpPr>
      <p:grpSpPr>
        <a:xfrm>
          <a:off x="0" y="0"/>
          <a:ext cx="0" cy="0"/>
          <a:chOff x="0" y="0"/>
          <a:chExt cx="0" cy="0"/>
        </a:xfrm>
      </p:grpSpPr>
      <p:sp>
        <p:nvSpPr>
          <p:cNvPr id="3" name="Freeform 3"/>
          <p:cNvSpPr/>
          <p:nvPr/>
        </p:nvSpPr>
        <p:spPr>
          <a:xfrm>
            <a:off x="9646444" y="-497681"/>
            <a:ext cx="11282362" cy="11282362"/>
          </a:xfrm>
          <a:custGeom>
            <a:avLst/>
            <a:gdLst/>
            <a:ahLst/>
            <a:cxnLst/>
            <a:rect l="l" t="t" r="r" b="b"/>
            <a:pathLst>
              <a:path w="11282362" h="11282362">
                <a:moveTo>
                  <a:pt x="0" y="0"/>
                </a:moveTo>
                <a:lnTo>
                  <a:pt x="11282362" y="0"/>
                </a:lnTo>
                <a:lnTo>
                  <a:pt x="11282362" y="11282362"/>
                </a:lnTo>
                <a:lnTo>
                  <a:pt x="0" y="112823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p:cNvGrpSpPr/>
          <p:nvPr/>
        </p:nvGrpSpPr>
        <p:grpSpPr>
          <a:xfrm>
            <a:off x="9830752" y="-262922"/>
            <a:ext cx="5246370" cy="5246370"/>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5342" r="-25342"/>
              </a:stretch>
            </a:blipFill>
          </p:spPr>
          <p:txBody>
            <a:bodyPr/>
            <a:lstStyle/>
            <a:p>
              <a:endParaRPr lang="en-US"/>
            </a:p>
          </p:txBody>
        </p:sp>
      </p:grpSp>
      <p:grpSp>
        <p:nvGrpSpPr>
          <p:cNvPr id="6" name="Group 6"/>
          <p:cNvGrpSpPr/>
          <p:nvPr/>
        </p:nvGrpSpPr>
        <p:grpSpPr>
          <a:xfrm>
            <a:off x="9830752" y="5338604"/>
            <a:ext cx="5246370" cy="524637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00" r="-25000"/>
              </a:stretch>
            </a:blipFill>
          </p:spPr>
          <p:txBody>
            <a:bodyPr/>
            <a:lstStyle/>
            <a:p>
              <a:endParaRPr lang="en-US"/>
            </a:p>
          </p:txBody>
        </p:sp>
      </p:grpSp>
      <p:sp>
        <p:nvSpPr>
          <p:cNvPr id="8" name="TextBox 8"/>
          <p:cNvSpPr txBox="1"/>
          <p:nvPr/>
        </p:nvSpPr>
        <p:spPr>
          <a:xfrm>
            <a:off x="1028700" y="4000500"/>
            <a:ext cx="7277100" cy="5170646"/>
          </a:xfrm>
          <a:prstGeom prst="rect">
            <a:avLst/>
          </a:prstGeom>
        </p:spPr>
        <p:txBody>
          <a:bodyPr wrap="square" lIns="0" tIns="0" rIns="0" bIns="0" rtlCol="0" anchor="t">
            <a:spAutoFit/>
          </a:bodyPr>
          <a:lstStyle/>
          <a:p>
            <a:pPr lvl="0"/>
            <a:r>
              <a:rPr lang="en-US" sz="2800" dirty="0">
                <a:solidFill>
                  <a:srgbClr val="F5E5E1"/>
                </a:solidFill>
                <a:latin typeface="Montserrat" pitchFamily="2" charset="77"/>
              </a:rPr>
              <a:t>The dataset contains </a:t>
            </a:r>
            <a:r>
              <a:rPr lang="en-US" sz="2800" b="1" dirty="0">
                <a:solidFill>
                  <a:srgbClr val="F5E5E1"/>
                </a:solidFill>
                <a:latin typeface="Montserrat" pitchFamily="2" charset="77"/>
              </a:rPr>
              <a:t>10,000</a:t>
            </a:r>
            <a:r>
              <a:rPr lang="en-US" sz="2800" dirty="0">
                <a:solidFill>
                  <a:srgbClr val="F5E5E1"/>
                </a:solidFill>
                <a:latin typeface="Montserrat" pitchFamily="2" charset="77"/>
              </a:rPr>
              <a:t> banking customers with </a:t>
            </a:r>
            <a:r>
              <a:rPr lang="en-US" sz="2800" b="1" dirty="0">
                <a:solidFill>
                  <a:srgbClr val="F5E5E1"/>
                </a:solidFill>
                <a:latin typeface="Montserrat" pitchFamily="2" charset="77"/>
              </a:rPr>
              <a:t>demographic and financial information </a:t>
            </a:r>
            <a:r>
              <a:rPr lang="en-US" sz="2800" dirty="0">
                <a:solidFill>
                  <a:srgbClr val="F5E5E1"/>
                </a:solidFill>
                <a:latin typeface="Montserrat" pitchFamily="2" charset="77"/>
              </a:rPr>
              <a:t>such as age, credit score, balance, tenure, and product usage.</a:t>
            </a:r>
          </a:p>
          <a:p>
            <a:pPr lvl="0"/>
            <a:endParaRPr lang="en-US" sz="2800" dirty="0">
              <a:solidFill>
                <a:srgbClr val="F5E5E1"/>
              </a:solidFill>
              <a:latin typeface="Montserrat" pitchFamily="2" charset="77"/>
            </a:endParaRPr>
          </a:p>
          <a:p>
            <a:pPr lvl="0"/>
            <a:r>
              <a:rPr lang="en-US" sz="2800" dirty="0">
                <a:solidFill>
                  <a:srgbClr val="F5E5E1"/>
                </a:solidFill>
                <a:latin typeface="Montserrat" pitchFamily="2" charset="77"/>
              </a:rPr>
              <a:t>The </a:t>
            </a:r>
            <a:r>
              <a:rPr lang="en-US" sz="2800" b="1" dirty="0">
                <a:solidFill>
                  <a:srgbClr val="F5E5E1"/>
                </a:solidFill>
                <a:latin typeface="Montserrat" pitchFamily="2" charset="77"/>
              </a:rPr>
              <a:t>target variable Exited </a:t>
            </a:r>
            <a:r>
              <a:rPr lang="en-US" sz="2800" dirty="0">
                <a:solidFill>
                  <a:srgbClr val="F5E5E1"/>
                </a:solidFill>
                <a:latin typeface="Montserrat" pitchFamily="2" charset="77"/>
              </a:rPr>
              <a:t>indicates whether a customer churned (1) or stayed (0), enabling </a:t>
            </a:r>
            <a:r>
              <a:rPr lang="en-US" sz="2800" b="1" dirty="0">
                <a:solidFill>
                  <a:srgbClr val="F5E5E1"/>
                </a:solidFill>
                <a:latin typeface="Montserrat" pitchFamily="2" charset="77"/>
              </a:rPr>
              <a:t>analysis of patterns </a:t>
            </a:r>
            <a:r>
              <a:rPr lang="en-US" sz="2800" dirty="0">
                <a:solidFill>
                  <a:srgbClr val="F5E5E1"/>
                </a:solidFill>
                <a:latin typeface="Montserrat" pitchFamily="2" charset="77"/>
              </a:rPr>
              <a:t>behind customer churn.</a:t>
            </a:r>
          </a:p>
          <a:p>
            <a:pPr lvl="0"/>
            <a:endParaRPr lang="en-US" sz="2800" dirty="0">
              <a:solidFill>
                <a:srgbClr val="F5E5E1"/>
              </a:solidFill>
              <a:latin typeface="Montserrat" pitchFamily="2" charset="77"/>
            </a:endParaRPr>
          </a:p>
          <a:p>
            <a:pPr lvl="0"/>
            <a:endParaRPr lang="en-US" sz="2800" dirty="0">
              <a:solidFill>
                <a:srgbClr val="F5E5E1"/>
              </a:solidFill>
              <a:latin typeface="Montserrat" pitchFamily="2" charset="77"/>
            </a:endParaRPr>
          </a:p>
        </p:txBody>
      </p:sp>
      <p:sp>
        <p:nvSpPr>
          <p:cNvPr id="9" name="TextBox 9"/>
          <p:cNvSpPr txBox="1"/>
          <p:nvPr/>
        </p:nvSpPr>
        <p:spPr>
          <a:xfrm>
            <a:off x="1028700" y="2360263"/>
            <a:ext cx="8293267" cy="833562"/>
          </a:xfrm>
          <a:prstGeom prst="rect">
            <a:avLst/>
          </a:prstGeom>
        </p:spPr>
        <p:txBody>
          <a:bodyPr lIns="0" tIns="0" rIns="0" bIns="0" rtlCol="0" anchor="t">
            <a:spAutoFit/>
          </a:bodyPr>
          <a:lstStyle/>
          <a:p>
            <a:pPr algn="l">
              <a:lnSpc>
                <a:spcPts val="6496"/>
              </a:lnSpc>
            </a:pPr>
            <a:r>
              <a:rPr lang="en-US" sz="5600" b="1" dirty="0">
                <a:solidFill>
                  <a:srgbClr val="F5E5E1"/>
                </a:solidFill>
                <a:latin typeface="Montserrat Bold"/>
                <a:ea typeface="Montserrat Bold"/>
                <a:cs typeface="Montserrat Bold"/>
                <a:sym typeface="Montserrat Bold"/>
              </a:rPr>
              <a:t>About the Dataset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64142"/>
        </a:solidFill>
        <a:effectLst/>
      </p:bgPr>
    </p:bg>
    <p:spTree>
      <p:nvGrpSpPr>
        <p:cNvPr id="1" name="">
          <a:extLst>
            <a:ext uri="{FF2B5EF4-FFF2-40B4-BE49-F238E27FC236}">
              <a16:creationId xmlns:a16="http://schemas.microsoft.com/office/drawing/2014/main" id="{35B445C2-9957-561D-A162-7CC68CF776A5}"/>
            </a:ext>
          </a:extLst>
        </p:cNvPr>
        <p:cNvGrpSpPr/>
        <p:nvPr/>
      </p:nvGrpSpPr>
      <p:grpSpPr>
        <a:xfrm>
          <a:off x="0" y="0"/>
          <a:ext cx="0" cy="0"/>
          <a:chOff x="0" y="0"/>
          <a:chExt cx="0" cy="0"/>
        </a:xfrm>
      </p:grpSpPr>
      <p:sp>
        <p:nvSpPr>
          <p:cNvPr id="9" name="Freeform 3">
            <a:extLst>
              <a:ext uri="{FF2B5EF4-FFF2-40B4-BE49-F238E27FC236}">
                <a16:creationId xmlns:a16="http://schemas.microsoft.com/office/drawing/2014/main" id="{28312879-07E9-34EE-3CA6-AE5FC776A3A5}"/>
              </a:ext>
            </a:extLst>
          </p:cNvPr>
          <p:cNvSpPr/>
          <p:nvPr/>
        </p:nvSpPr>
        <p:spPr>
          <a:xfrm>
            <a:off x="10843953" y="723900"/>
            <a:ext cx="6415347" cy="10287000"/>
          </a:xfrm>
          <a:custGeom>
            <a:avLst/>
            <a:gdLst/>
            <a:ahLst/>
            <a:cxnLst/>
            <a:rect l="l" t="t" r="r" b="b"/>
            <a:pathLst>
              <a:path w="6415347" h="10287000">
                <a:moveTo>
                  <a:pt x="0" y="0"/>
                </a:moveTo>
                <a:lnTo>
                  <a:pt x="6415347" y="0"/>
                </a:lnTo>
                <a:lnTo>
                  <a:pt x="6415347" y="10287000"/>
                </a:lnTo>
                <a:lnTo>
                  <a:pt x="0" y="10287000"/>
                </a:lnTo>
                <a:lnTo>
                  <a:pt x="0" y="0"/>
                </a:lnTo>
                <a:close/>
              </a:path>
            </a:pathLst>
          </a:custGeom>
          <a:blipFill dpi="0" rotWithShape="1">
            <a:blip>
              <a:alphaModFix amt="20000"/>
              <a:extLst>
                <a:ext uri="{96DAC541-7B7A-43D3-8B79-37D633B846F1}">
                  <asvg:svgBlip xmlns:asvg="http://schemas.microsoft.com/office/drawing/2016/SVG/main" r:embed="rId3"/>
                </a:ext>
              </a:extLst>
            </a:blip>
            <a:srcRect/>
            <a:stretch>
              <a:fillRect/>
            </a:stretch>
          </a:blipFill>
        </p:spPr>
        <p:txBody>
          <a:bodyPr/>
          <a:lstStyle/>
          <a:p>
            <a:endParaRPr lang="en-US" dirty="0"/>
          </a:p>
        </p:txBody>
      </p:sp>
      <p:sp>
        <p:nvSpPr>
          <p:cNvPr id="4" name="TextBox 4">
            <a:extLst>
              <a:ext uri="{FF2B5EF4-FFF2-40B4-BE49-F238E27FC236}">
                <a16:creationId xmlns:a16="http://schemas.microsoft.com/office/drawing/2014/main" id="{EDA018D8-8254-5890-5C50-E2F755B20A42}"/>
              </a:ext>
            </a:extLst>
          </p:cNvPr>
          <p:cNvSpPr txBox="1"/>
          <p:nvPr/>
        </p:nvSpPr>
        <p:spPr>
          <a:xfrm>
            <a:off x="1028700" y="2496859"/>
            <a:ext cx="8293267" cy="953135"/>
          </a:xfrm>
          <a:prstGeom prst="rect">
            <a:avLst/>
          </a:prstGeom>
        </p:spPr>
        <p:txBody>
          <a:bodyPr lIns="0" tIns="0" rIns="0" bIns="0" rtlCol="0" anchor="t">
            <a:spAutoFit/>
          </a:bodyPr>
          <a:lstStyle/>
          <a:p>
            <a:pPr algn="l">
              <a:lnSpc>
                <a:spcPts val="7840"/>
              </a:lnSpc>
              <a:spcBef>
                <a:spcPct val="0"/>
              </a:spcBef>
            </a:pPr>
            <a:r>
              <a:rPr lang="en-US" sz="5600" b="1" dirty="0">
                <a:solidFill>
                  <a:schemeClr val="bg1"/>
                </a:solidFill>
                <a:latin typeface="Montserrat Bold"/>
                <a:ea typeface="Montserrat Bold"/>
                <a:cs typeface="Montserrat Bold"/>
                <a:sym typeface="Montserrat Bold"/>
              </a:rPr>
              <a:t>Methodology</a:t>
            </a:r>
          </a:p>
        </p:txBody>
      </p:sp>
      <p:graphicFrame>
        <p:nvGraphicFramePr>
          <p:cNvPr id="5" name="Diagram 4">
            <a:extLst>
              <a:ext uri="{FF2B5EF4-FFF2-40B4-BE49-F238E27FC236}">
                <a16:creationId xmlns:a16="http://schemas.microsoft.com/office/drawing/2014/main" id="{33075F4D-D1E8-E574-2C58-B4EF13F2BA9A}"/>
              </a:ext>
            </a:extLst>
          </p:cNvPr>
          <p:cNvGraphicFramePr/>
          <p:nvPr>
            <p:extLst>
              <p:ext uri="{D42A27DB-BD31-4B8C-83A1-F6EECF244321}">
                <p14:modId xmlns:p14="http://schemas.microsoft.com/office/powerpoint/2010/main" val="2050295646"/>
              </p:ext>
            </p:extLst>
          </p:nvPr>
        </p:nvGraphicFramePr>
        <p:xfrm>
          <a:off x="381000" y="2933700"/>
          <a:ext cx="17526000" cy="5334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89023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D5125-CA92-E64C-8CBB-9977A24277B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CE6506A-3803-7103-DB97-AEF8294F15D6}"/>
              </a:ext>
            </a:extLst>
          </p:cNvPr>
          <p:cNvSpPr/>
          <p:nvPr/>
        </p:nvSpPr>
        <p:spPr>
          <a:xfrm>
            <a:off x="7418447" y="-184455"/>
            <a:ext cx="12966262" cy="10655910"/>
          </a:xfrm>
          <a:custGeom>
            <a:avLst/>
            <a:gdLst/>
            <a:ahLst/>
            <a:cxnLst/>
            <a:rect l="l" t="t" r="r" b="b"/>
            <a:pathLst>
              <a:path w="12966262" h="10655910">
                <a:moveTo>
                  <a:pt x="0" y="0"/>
                </a:moveTo>
                <a:lnTo>
                  <a:pt x="12966262" y="0"/>
                </a:lnTo>
                <a:lnTo>
                  <a:pt x="12966262" y="10655910"/>
                </a:lnTo>
                <a:lnTo>
                  <a:pt x="0" y="106559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24BE2136-8070-8681-CE5C-FBFFDDB3435E}"/>
              </a:ext>
            </a:extLst>
          </p:cNvPr>
          <p:cNvSpPr txBox="1"/>
          <p:nvPr/>
        </p:nvSpPr>
        <p:spPr>
          <a:xfrm>
            <a:off x="1014943" y="2324100"/>
            <a:ext cx="7124700" cy="833562"/>
          </a:xfrm>
          <a:prstGeom prst="rect">
            <a:avLst/>
          </a:prstGeom>
        </p:spPr>
        <p:txBody>
          <a:bodyPr wrap="square" lIns="0" tIns="0" rIns="0" bIns="0" rtlCol="0" anchor="t">
            <a:spAutoFit/>
          </a:bodyPr>
          <a:lstStyle/>
          <a:p>
            <a:pPr algn="l">
              <a:lnSpc>
                <a:spcPts val="6496"/>
              </a:lnSpc>
            </a:pPr>
            <a:r>
              <a:rPr lang="en-US" sz="5600" b="1" dirty="0">
                <a:solidFill>
                  <a:srgbClr val="174143"/>
                </a:solidFill>
                <a:latin typeface="Montserrat Bold"/>
                <a:ea typeface="Montserrat Bold"/>
                <a:cs typeface="Montserrat Bold"/>
                <a:sym typeface="Montserrat Bold"/>
              </a:rPr>
              <a:t>Methodology</a:t>
            </a:r>
          </a:p>
        </p:txBody>
      </p:sp>
      <p:sp>
        <p:nvSpPr>
          <p:cNvPr id="8" name="TextBox 7">
            <a:extLst>
              <a:ext uri="{FF2B5EF4-FFF2-40B4-BE49-F238E27FC236}">
                <a16:creationId xmlns:a16="http://schemas.microsoft.com/office/drawing/2014/main" id="{BD6A4F5D-39BF-AAC6-F529-FAF2587B1372}"/>
              </a:ext>
            </a:extLst>
          </p:cNvPr>
          <p:cNvSpPr txBox="1"/>
          <p:nvPr/>
        </p:nvSpPr>
        <p:spPr>
          <a:xfrm>
            <a:off x="6547104" y="4206240"/>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BF478044-DC03-9142-0F42-557B7B2F21F2}"/>
              </a:ext>
            </a:extLst>
          </p:cNvPr>
          <p:cNvSpPr txBox="1"/>
          <p:nvPr/>
        </p:nvSpPr>
        <p:spPr>
          <a:xfrm>
            <a:off x="1014943" y="3683020"/>
            <a:ext cx="10190480" cy="6370975"/>
          </a:xfrm>
          <a:prstGeom prst="rect">
            <a:avLst/>
          </a:prstGeom>
          <a:noFill/>
        </p:spPr>
        <p:txBody>
          <a:bodyPr wrap="square">
            <a:spAutoFit/>
          </a:bodyPr>
          <a:lstStyle/>
          <a:p>
            <a:r>
              <a:rPr lang="en-US" sz="2400" b="1" dirty="0">
                <a:solidFill>
                  <a:srgbClr val="114330"/>
                </a:solidFill>
                <a:latin typeface="Montserrat" pitchFamily="2" charset="77"/>
              </a:rPr>
              <a:t>Business Understanding</a:t>
            </a:r>
          </a:p>
          <a:p>
            <a:r>
              <a:rPr lang="en-US" sz="2400" dirty="0">
                <a:solidFill>
                  <a:srgbClr val="114330"/>
                </a:solidFill>
                <a:latin typeface="Montserrat" pitchFamily="2" charset="77"/>
              </a:rPr>
              <a:t>Define the business problem, stakeholder needs, and project objectives.</a:t>
            </a:r>
          </a:p>
          <a:p>
            <a:endParaRPr lang="en-US" sz="2400" b="1" dirty="0">
              <a:solidFill>
                <a:srgbClr val="114330"/>
              </a:solidFill>
              <a:latin typeface="Montserrat" pitchFamily="2" charset="77"/>
            </a:endParaRPr>
          </a:p>
          <a:p>
            <a:r>
              <a:rPr lang="en-US" sz="2400" b="1" dirty="0">
                <a:solidFill>
                  <a:srgbClr val="114330"/>
                </a:solidFill>
                <a:latin typeface="Montserrat" pitchFamily="2" charset="77"/>
              </a:rPr>
              <a:t>Data Exploration</a:t>
            </a:r>
          </a:p>
          <a:p>
            <a:r>
              <a:rPr lang="en-US" sz="2400" dirty="0">
                <a:solidFill>
                  <a:srgbClr val="114330"/>
                </a:solidFill>
                <a:latin typeface="Montserrat" pitchFamily="2" charset="77"/>
              </a:rPr>
              <a:t>Load the dataset and examine its structure, variables, and target distribution.</a:t>
            </a:r>
          </a:p>
          <a:p>
            <a:endParaRPr lang="en-US" sz="2400" b="1" dirty="0">
              <a:solidFill>
                <a:srgbClr val="114330"/>
              </a:solidFill>
              <a:latin typeface="Montserrat" pitchFamily="2" charset="77"/>
            </a:endParaRPr>
          </a:p>
          <a:p>
            <a:r>
              <a:rPr lang="en-US" sz="2400" b="1" dirty="0">
                <a:solidFill>
                  <a:srgbClr val="114330"/>
                </a:solidFill>
                <a:latin typeface="Montserrat" pitchFamily="2" charset="77"/>
              </a:rPr>
              <a:t>Exploratory Data Analysis (EDA)</a:t>
            </a:r>
          </a:p>
          <a:p>
            <a:r>
              <a:rPr lang="en-US" sz="2400" dirty="0">
                <a:solidFill>
                  <a:srgbClr val="114330"/>
                </a:solidFill>
                <a:latin typeface="Montserrat" pitchFamily="2" charset="77"/>
              </a:rPr>
              <a:t>Identify patterns and relationships between customer features and churn through visualizations and statistical analysis.</a:t>
            </a:r>
          </a:p>
          <a:p>
            <a:endParaRPr lang="en-US" sz="2400" b="1" dirty="0">
              <a:solidFill>
                <a:srgbClr val="114330"/>
              </a:solidFill>
              <a:latin typeface="Montserrat" pitchFamily="2" charset="77"/>
            </a:endParaRPr>
          </a:p>
          <a:p>
            <a:r>
              <a:rPr lang="en-US" sz="2400" b="1" dirty="0">
                <a:solidFill>
                  <a:srgbClr val="114330"/>
                </a:solidFill>
                <a:latin typeface="Montserrat" pitchFamily="2" charset="77"/>
              </a:rPr>
              <a:t>Data Preparation</a:t>
            </a:r>
          </a:p>
          <a:p>
            <a:r>
              <a:rPr lang="en-US" sz="2400" dirty="0">
                <a:solidFill>
                  <a:srgbClr val="114330"/>
                </a:solidFill>
                <a:latin typeface="Montserrat" pitchFamily="2" charset="77"/>
              </a:rPr>
              <a:t>Clean the data, encode categorical variables, scale numerical features, and split the dataset into training and testing sets.</a:t>
            </a:r>
          </a:p>
          <a:p>
            <a:endParaRPr lang="en-US" sz="2400" b="1" dirty="0">
              <a:solidFill>
                <a:srgbClr val="114330"/>
              </a:solidFill>
              <a:latin typeface="Montserrat" pitchFamily="2" charset="77"/>
            </a:endParaRPr>
          </a:p>
          <a:p>
            <a:endParaRPr lang="en-US" sz="2400" b="1" dirty="0">
              <a:solidFill>
                <a:srgbClr val="114330"/>
              </a:solidFill>
              <a:latin typeface="Montserrat" pitchFamily="2" charset="77"/>
            </a:endParaRPr>
          </a:p>
        </p:txBody>
      </p:sp>
    </p:spTree>
    <p:extLst>
      <p:ext uri="{BB962C8B-B14F-4D97-AF65-F5344CB8AC3E}">
        <p14:creationId xmlns:p14="http://schemas.microsoft.com/office/powerpoint/2010/main" val="3655119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BCBA2-DB37-A377-EB8C-DE90CA8D70D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12844EB-BFAD-A76A-0D88-234EA8C7D996}"/>
              </a:ext>
            </a:extLst>
          </p:cNvPr>
          <p:cNvSpPr/>
          <p:nvPr/>
        </p:nvSpPr>
        <p:spPr>
          <a:xfrm>
            <a:off x="7418447" y="-184455"/>
            <a:ext cx="12966262" cy="10655910"/>
          </a:xfrm>
          <a:custGeom>
            <a:avLst/>
            <a:gdLst/>
            <a:ahLst/>
            <a:cxnLst/>
            <a:rect l="l" t="t" r="r" b="b"/>
            <a:pathLst>
              <a:path w="12966262" h="10655910">
                <a:moveTo>
                  <a:pt x="0" y="0"/>
                </a:moveTo>
                <a:lnTo>
                  <a:pt x="12966262" y="0"/>
                </a:lnTo>
                <a:lnTo>
                  <a:pt x="12966262" y="10655910"/>
                </a:lnTo>
                <a:lnTo>
                  <a:pt x="0" y="106559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DA446CA6-EA92-6852-4DFA-D4CCFA8E3A71}"/>
              </a:ext>
            </a:extLst>
          </p:cNvPr>
          <p:cNvSpPr txBox="1"/>
          <p:nvPr/>
        </p:nvSpPr>
        <p:spPr>
          <a:xfrm>
            <a:off x="1014943" y="2324100"/>
            <a:ext cx="7124700" cy="833562"/>
          </a:xfrm>
          <a:prstGeom prst="rect">
            <a:avLst/>
          </a:prstGeom>
        </p:spPr>
        <p:txBody>
          <a:bodyPr wrap="square" lIns="0" tIns="0" rIns="0" bIns="0" rtlCol="0" anchor="t">
            <a:spAutoFit/>
          </a:bodyPr>
          <a:lstStyle/>
          <a:p>
            <a:pPr algn="l">
              <a:lnSpc>
                <a:spcPts val="6496"/>
              </a:lnSpc>
            </a:pPr>
            <a:r>
              <a:rPr lang="en-US" sz="5600" b="1" dirty="0">
                <a:solidFill>
                  <a:srgbClr val="174143"/>
                </a:solidFill>
                <a:latin typeface="Montserrat Bold"/>
                <a:ea typeface="Montserrat Bold"/>
                <a:cs typeface="Montserrat Bold"/>
                <a:sym typeface="Montserrat Bold"/>
              </a:rPr>
              <a:t>Methodology</a:t>
            </a:r>
          </a:p>
        </p:txBody>
      </p:sp>
      <p:sp>
        <p:nvSpPr>
          <p:cNvPr id="8" name="TextBox 7">
            <a:extLst>
              <a:ext uri="{FF2B5EF4-FFF2-40B4-BE49-F238E27FC236}">
                <a16:creationId xmlns:a16="http://schemas.microsoft.com/office/drawing/2014/main" id="{CE45E247-7BBB-0861-DBAB-3FF2E58604A0}"/>
              </a:ext>
            </a:extLst>
          </p:cNvPr>
          <p:cNvSpPr txBox="1"/>
          <p:nvPr/>
        </p:nvSpPr>
        <p:spPr>
          <a:xfrm>
            <a:off x="6547104" y="4206240"/>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C86F0781-2C42-BA40-F053-DEF8209C79AA}"/>
              </a:ext>
            </a:extLst>
          </p:cNvPr>
          <p:cNvSpPr txBox="1"/>
          <p:nvPr/>
        </p:nvSpPr>
        <p:spPr>
          <a:xfrm>
            <a:off x="1014943" y="3683020"/>
            <a:ext cx="10190480" cy="4524315"/>
          </a:xfrm>
          <a:prstGeom prst="rect">
            <a:avLst/>
          </a:prstGeom>
          <a:noFill/>
        </p:spPr>
        <p:txBody>
          <a:bodyPr wrap="square">
            <a:spAutoFit/>
          </a:bodyPr>
          <a:lstStyle/>
          <a:p>
            <a:r>
              <a:rPr lang="en-US" sz="2400" b="1" dirty="0">
                <a:solidFill>
                  <a:srgbClr val="114330"/>
                </a:solidFill>
                <a:latin typeface="Montserrat" pitchFamily="2" charset="77"/>
              </a:rPr>
              <a:t>Model Development</a:t>
            </a:r>
          </a:p>
          <a:p>
            <a:r>
              <a:rPr lang="en-US" sz="2400" dirty="0">
                <a:solidFill>
                  <a:srgbClr val="114330"/>
                </a:solidFill>
                <a:latin typeface="Montserrat" pitchFamily="2" charset="77"/>
              </a:rPr>
              <a:t>Train multiple machine learning models such as Logistic Regression, Random Forest, and Gradient Boosting.</a:t>
            </a:r>
          </a:p>
          <a:p>
            <a:endParaRPr lang="en-US" sz="2400" b="1" dirty="0">
              <a:solidFill>
                <a:srgbClr val="114330"/>
              </a:solidFill>
              <a:latin typeface="Montserrat" pitchFamily="2" charset="77"/>
            </a:endParaRPr>
          </a:p>
          <a:p>
            <a:r>
              <a:rPr lang="en-US" sz="2400" b="1" dirty="0">
                <a:solidFill>
                  <a:srgbClr val="114330"/>
                </a:solidFill>
                <a:latin typeface="Montserrat" pitchFamily="2" charset="77"/>
              </a:rPr>
              <a:t>Model Evaluation</a:t>
            </a:r>
          </a:p>
          <a:p>
            <a:r>
              <a:rPr lang="en-US" sz="2400" dirty="0">
                <a:solidFill>
                  <a:srgbClr val="114330"/>
                </a:solidFill>
                <a:latin typeface="Montserrat" pitchFamily="2" charset="77"/>
              </a:rPr>
              <a:t>Compare model performance using metrics such as ROC-AUC, Precision, Recall, and F1-score.</a:t>
            </a:r>
          </a:p>
          <a:p>
            <a:endParaRPr lang="en-US" sz="2400" b="1" dirty="0">
              <a:solidFill>
                <a:srgbClr val="114330"/>
              </a:solidFill>
              <a:latin typeface="Montserrat" pitchFamily="2" charset="77"/>
            </a:endParaRPr>
          </a:p>
          <a:p>
            <a:r>
              <a:rPr lang="en-US" sz="2400" b="1" dirty="0">
                <a:solidFill>
                  <a:srgbClr val="114330"/>
                </a:solidFill>
                <a:latin typeface="Montserrat" pitchFamily="2" charset="77"/>
              </a:rPr>
              <a:t>Business Insights &amp; Recommendations</a:t>
            </a:r>
          </a:p>
          <a:p>
            <a:r>
              <a:rPr lang="en-US" sz="2400" dirty="0">
                <a:solidFill>
                  <a:srgbClr val="114330"/>
                </a:solidFill>
                <a:latin typeface="Montserrat" pitchFamily="2" charset="77"/>
              </a:rPr>
              <a:t>Translate model results into actionable strategies to reduce customer churn.</a:t>
            </a:r>
          </a:p>
          <a:p>
            <a:endParaRPr lang="en-US" sz="2400" b="1" dirty="0">
              <a:solidFill>
                <a:srgbClr val="114330"/>
              </a:solidFill>
              <a:latin typeface="Montserrat" pitchFamily="2" charset="77"/>
            </a:endParaRPr>
          </a:p>
        </p:txBody>
      </p:sp>
    </p:spTree>
    <p:extLst>
      <p:ext uri="{BB962C8B-B14F-4D97-AF65-F5344CB8AC3E}">
        <p14:creationId xmlns:p14="http://schemas.microsoft.com/office/powerpoint/2010/main" val="211068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674148" y="8460271"/>
            <a:ext cx="13261052" cy="1107996"/>
          </a:xfrm>
          <a:prstGeom prst="rect">
            <a:avLst/>
          </a:prstGeom>
        </p:spPr>
        <p:txBody>
          <a:bodyPr wrap="square" lIns="0" tIns="0" rIns="0" bIns="0" rtlCol="0" anchor="t">
            <a:spAutoFit/>
          </a:bodyPr>
          <a:lstStyle/>
          <a:p>
            <a:r>
              <a:rPr lang="en-US" sz="2400" b="1" dirty="0">
                <a:solidFill>
                  <a:srgbClr val="114330"/>
                </a:solidFill>
                <a:latin typeface="Montserrat" pitchFamily="2" charset="77"/>
              </a:rPr>
              <a:t>This chart shows the distribution of customers who stayed in the bank versus those who churned. About 80% of  customers remain with the bank while roughly 20% leave.</a:t>
            </a:r>
          </a:p>
        </p:txBody>
      </p:sp>
      <p:sp>
        <p:nvSpPr>
          <p:cNvPr id="5" name="TextBox 5"/>
          <p:cNvSpPr txBox="1"/>
          <p:nvPr/>
        </p:nvSpPr>
        <p:spPr>
          <a:xfrm>
            <a:off x="2819400" y="244143"/>
            <a:ext cx="11353800" cy="851580"/>
          </a:xfrm>
          <a:prstGeom prst="rect">
            <a:avLst/>
          </a:prstGeom>
        </p:spPr>
        <p:txBody>
          <a:bodyPr wrap="square" lIns="0" tIns="0" rIns="0" bIns="0" rtlCol="0" anchor="t">
            <a:spAutoFit/>
          </a:bodyPr>
          <a:lstStyle/>
          <a:p>
            <a:pPr>
              <a:lnSpc>
                <a:spcPts val="7840"/>
              </a:lnSpc>
              <a:spcBef>
                <a:spcPct val="0"/>
              </a:spcBef>
            </a:pPr>
            <a:r>
              <a:rPr lang="en-US" sz="3200" b="1" dirty="0">
                <a:solidFill>
                  <a:srgbClr val="174143"/>
                </a:solidFill>
                <a:latin typeface="Montserrat Bold"/>
                <a:ea typeface="Montserrat Bold"/>
                <a:cs typeface="Montserrat Bold"/>
                <a:sym typeface="Montserrat Bold"/>
              </a:rPr>
              <a:t>This graph shows that the dataset is imbalanced</a:t>
            </a:r>
          </a:p>
        </p:txBody>
      </p:sp>
      <p:sp>
        <p:nvSpPr>
          <p:cNvPr id="6" name="TextBox 6"/>
          <p:cNvSpPr txBox="1"/>
          <p:nvPr/>
        </p:nvSpPr>
        <p:spPr>
          <a:xfrm>
            <a:off x="1674148" y="1065678"/>
            <a:ext cx="2349348" cy="346249"/>
          </a:xfrm>
          <a:prstGeom prst="rect">
            <a:avLst/>
          </a:prstGeom>
        </p:spPr>
        <p:txBody>
          <a:bodyPr lIns="0" tIns="0" rIns="0" bIns="0" rtlCol="0" anchor="t">
            <a:spAutoFit/>
          </a:bodyPr>
          <a:lstStyle/>
          <a:p>
            <a:pPr algn="l">
              <a:lnSpc>
                <a:spcPts val="2734"/>
              </a:lnSpc>
            </a:pPr>
            <a:endParaRPr lang="en-US" sz="2441" b="1" dirty="0">
              <a:solidFill>
                <a:srgbClr val="174143"/>
              </a:solidFill>
              <a:latin typeface="Montserrat Medium"/>
              <a:ea typeface="Montserrat Medium"/>
              <a:cs typeface="Montserrat Medium"/>
              <a:sym typeface="Montserrat Medium"/>
            </a:endParaRPr>
          </a:p>
        </p:txBody>
      </p:sp>
      <p:pic>
        <p:nvPicPr>
          <p:cNvPr id="12" name="Picture 11" descr="A blue and red rectangular bars&#10;&#10;AI-generated content may be incorrect.">
            <a:extLst>
              <a:ext uri="{FF2B5EF4-FFF2-40B4-BE49-F238E27FC236}">
                <a16:creationId xmlns:a16="http://schemas.microsoft.com/office/drawing/2014/main" id="{BC62B0B3-E4F4-EE7C-3AE3-A9668CACA6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1272731"/>
            <a:ext cx="12039600" cy="67098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582F1-0D34-0D1F-D321-C0B818046601}"/>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1B1629AA-319C-0160-7823-3E521E61E6CE}"/>
              </a:ext>
            </a:extLst>
          </p:cNvPr>
          <p:cNvSpPr txBox="1"/>
          <p:nvPr/>
        </p:nvSpPr>
        <p:spPr>
          <a:xfrm>
            <a:off x="1524000" y="8802285"/>
            <a:ext cx="15587386" cy="3508653"/>
          </a:xfrm>
          <a:prstGeom prst="rect">
            <a:avLst/>
          </a:prstGeom>
        </p:spPr>
        <p:txBody>
          <a:bodyPr wrap="square" lIns="0" tIns="0" rIns="0" bIns="0" rtlCol="0" anchor="t">
            <a:spAutoFit/>
          </a:bodyPr>
          <a:lstStyle/>
          <a:p>
            <a:r>
              <a:rPr lang="en-US" sz="3200" b="1" dirty="0">
                <a:solidFill>
                  <a:srgbClr val="114330"/>
                </a:solidFill>
                <a:latin typeface="Montserrat" pitchFamily="2" charset="77"/>
              </a:rPr>
              <a:t>The distribution shows that churned customers tend to be slightly older, suggesting that age may influence the likelihood of leaving the bank.</a:t>
            </a:r>
          </a:p>
          <a:p>
            <a:pPr marL="457200" indent="-457200">
              <a:buFont typeface="Arial" panose="020B0604020202020204" pitchFamily="34" charset="0"/>
              <a:buChar char="•"/>
            </a:pPr>
            <a:endParaRPr lang="en-US" sz="2800" b="1" dirty="0">
              <a:solidFill>
                <a:srgbClr val="114330"/>
              </a:solidFill>
              <a:latin typeface="Montserrat" pitchFamily="2" charset="77"/>
            </a:endParaRP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b="1" dirty="0">
              <a:solidFill>
                <a:srgbClr val="114330"/>
              </a:solidFill>
              <a:latin typeface="Montserrat" pitchFamily="2" charset="77"/>
            </a:endParaRPr>
          </a:p>
          <a:p>
            <a:pPr marL="457200" indent="-457200">
              <a:buFont typeface="Arial" panose="020B0604020202020204" pitchFamily="34" charset="0"/>
              <a:buChar char="•"/>
            </a:pPr>
            <a:endParaRPr lang="en-US" sz="2800" b="1" dirty="0">
              <a:solidFill>
                <a:srgbClr val="114330"/>
              </a:solidFill>
              <a:latin typeface="Montserrat" pitchFamily="2" charset="77"/>
            </a:endParaRPr>
          </a:p>
          <a:p>
            <a:endParaRPr lang="en-US" sz="2400" b="1" dirty="0">
              <a:solidFill>
                <a:srgbClr val="114330"/>
              </a:solidFill>
              <a:latin typeface="Montserrat" pitchFamily="2" charset="77"/>
            </a:endParaRPr>
          </a:p>
        </p:txBody>
      </p:sp>
      <p:sp>
        <p:nvSpPr>
          <p:cNvPr id="5" name="TextBox 5">
            <a:extLst>
              <a:ext uri="{FF2B5EF4-FFF2-40B4-BE49-F238E27FC236}">
                <a16:creationId xmlns:a16="http://schemas.microsoft.com/office/drawing/2014/main" id="{337B614D-4827-F635-9648-27D95ED2A20D}"/>
              </a:ext>
            </a:extLst>
          </p:cNvPr>
          <p:cNvSpPr txBox="1"/>
          <p:nvPr/>
        </p:nvSpPr>
        <p:spPr>
          <a:xfrm>
            <a:off x="1293157" y="7798318"/>
            <a:ext cx="11353800" cy="889667"/>
          </a:xfrm>
          <a:prstGeom prst="rect">
            <a:avLst/>
          </a:prstGeom>
        </p:spPr>
        <p:txBody>
          <a:bodyPr wrap="square" lIns="0" tIns="0" rIns="0" bIns="0" rtlCol="0" anchor="t">
            <a:spAutoFit/>
          </a:bodyPr>
          <a:lstStyle/>
          <a:p>
            <a:pPr>
              <a:lnSpc>
                <a:spcPts val="7840"/>
              </a:lnSpc>
              <a:spcBef>
                <a:spcPct val="0"/>
              </a:spcBef>
            </a:pPr>
            <a:r>
              <a:rPr lang="en-US" sz="4000" b="1" dirty="0">
                <a:solidFill>
                  <a:srgbClr val="174143"/>
                </a:solidFill>
                <a:latin typeface="Montserrat Bold"/>
                <a:ea typeface="Montserrat Bold"/>
                <a:cs typeface="Montserrat Bold"/>
                <a:sym typeface="Montserrat Bold"/>
              </a:rPr>
              <a:t> </a:t>
            </a:r>
          </a:p>
        </p:txBody>
      </p:sp>
      <p:sp>
        <p:nvSpPr>
          <p:cNvPr id="7" name="TextBox 7">
            <a:extLst>
              <a:ext uri="{FF2B5EF4-FFF2-40B4-BE49-F238E27FC236}">
                <a16:creationId xmlns:a16="http://schemas.microsoft.com/office/drawing/2014/main" id="{C19F34C4-594C-EC38-C29F-AFE1BAA99CA7}"/>
              </a:ext>
            </a:extLst>
          </p:cNvPr>
          <p:cNvSpPr txBox="1"/>
          <p:nvPr/>
        </p:nvSpPr>
        <p:spPr>
          <a:xfrm>
            <a:off x="13001965" y="8885555"/>
            <a:ext cx="4257335" cy="372745"/>
          </a:xfrm>
          <a:prstGeom prst="rect">
            <a:avLst/>
          </a:prstGeom>
        </p:spPr>
        <p:txBody>
          <a:bodyPr lIns="0" tIns="0" rIns="0" bIns="0" rtlCol="0" anchor="t">
            <a:spAutoFit/>
          </a:bodyPr>
          <a:lstStyle/>
          <a:p>
            <a:pPr algn="r">
              <a:lnSpc>
                <a:spcPts val="3080"/>
              </a:lnSpc>
              <a:spcBef>
                <a:spcPct val="0"/>
              </a:spcBef>
            </a:pPr>
            <a:endParaRPr lang="en-US" sz="2200" b="1" dirty="0">
              <a:solidFill>
                <a:srgbClr val="174143"/>
              </a:solidFill>
              <a:latin typeface="Montserrat Medium"/>
              <a:ea typeface="Montserrat Medium"/>
              <a:cs typeface="Montserrat Medium"/>
              <a:sym typeface="Montserrat Medium"/>
            </a:endParaRPr>
          </a:p>
        </p:txBody>
      </p:sp>
      <p:pic>
        <p:nvPicPr>
          <p:cNvPr id="4" name="Picture 3" descr="A graph of age distribution&#10;&#10;AI-generated content may be incorrect.">
            <a:extLst>
              <a:ext uri="{FF2B5EF4-FFF2-40B4-BE49-F238E27FC236}">
                <a16:creationId xmlns:a16="http://schemas.microsoft.com/office/drawing/2014/main" id="{B2672066-9991-2471-C22F-DE7637FB8A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0" y="150480"/>
            <a:ext cx="10896600" cy="8246046"/>
          </a:xfrm>
          <a:prstGeom prst="rect">
            <a:avLst/>
          </a:prstGeom>
        </p:spPr>
      </p:pic>
    </p:spTree>
    <p:extLst>
      <p:ext uri="{BB962C8B-B14F-4D97-AF65-F5344CB8AC3E}">
        <p14:creationId xmlns:p14="http://schemas.microsoft.com/office/powerpoint/2010/main" val="2850363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02C25-D63C-5A33-5F5F-BC5EBEAD4859}"/>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B4FA922E-4FBA-C373-252B-6CA2642B751D}"/>
              </a:ext>
            </a:extLst>
          </p:cNvPr>
          <p:cNvSpPr txBox="1"/>
          <p:nvPr/>
        </p:nvSpPr>
        <p:spPr>
          <a:xfrm>
            <a:off x="670306" y="8966094"/>
            <a:ext cx="16550894" cy="861774"/>
          </a:xfrm>
          <a:prstGeom prst="rect">
            <a:avLst/>
          </a:prstGeom>
        </p:spPr>
        <p:txBody>
          <a:bodyPr wrap="square" lIns="0" tIns="0" rIns="0" bIns="0" rtlCol="0" anchor="t">
            <a:spAutoFit/>
          </a:bodyPr>
          <a:lstStyle/>
          <a:p>
            <a:r>
              <a:rPr lang="en-US" sz="2800" b="1" dirty="0">
                <a:solidFill>
                  <a:srgbClr val="114330"/>
                </a:solidFill>
                <a:latin typeface="Montserrat" pitchFamily="2" charset="77"/>
              </a:rPr>
              <a:t>Customers in Germany appear to churn more frequently compared to those in France and Spain.</a:t>
            </a:r>
          </a:p>
        </p:txBody>
      </p:sp>
      <p:sp>
        <p:nvSpPr>
          <p:cNvPr id="6" name="TextBox 6">
            <a:extLst>
              <a:ext uri="{FF2B5EF4-FFF2-40B4-BE49-F238E27FC236}">
                <a16:creationId xmlns:a16="http://schemas.microsoft.com/office/drawing/2014/main" id="{C6A6BA0A-2291-82E9-AD37-ED7FDE34AB29}"/>
              </a:ext>
            </a:extLst>
          </p:cNvPr>
          <p:cNvSpPr txBox="1"/>
          <p:nvPr/>
        </p:nvSpPr>
        <p:spPr>
          <a:xfrm>
            <a:off x="1674148" y="1065678"/>
            <a:ext cx="2349348" cy="346249"/>
          </a:xfrm>
          <a:prstGeom prst="rect">
            <a:avLst/>
          </a:prstGeom>
        </p:spPr>
        <p:txBody>
          <a:bodyPr lIns="0" tIns="0" rIns="0" bIns="0" rtlCol="0" anchor="t">
            <a:spAutoFit/>
          </a:bodyPr>
          <a:lstStyle/>
          <a:p>
            <a:pPr algn="l">
              <a:lnSpc>
                <a:spcPts val="2734"/>
              </a:lnSpc>
            </a:pPr>
            <a:endParaRPr lang="en-US" sz="2441" b="1" dirty="0">
              <a:solidFill>
                <a:srgbClr val="174143"/>
              </a:solidFill>
              <a:latin typeface="Montserrat Medium"/>
              <a:ea typeface="Montserrat Medium"/>
              <a:cs typeface="Montserrat Medium"/>
              <a:sym typeface="Montserrat Medium"/>
            </a:endParaRPr>
          </a:p>
        </p:txBody>
      </p:sp>
      <p:pic>
        <p:nvPicPr>
          <p:cNvPr id="5" name="Picture 4" descr="A graph of different colored bars&#10;&#10;AI-generated content may be incorrect.">
            <a:extLst>
              <a:ext uri="{FF2B5EF4-FFF2-40B4-BE49-F238E27FC236}">
                <a16:creationId xmlns:a16="http://schemas.microsoft.com/office/drawing/2014/main" id="{ADFBB5A0-FF94-8C62-0152-3E093EA1EE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3052" y="551465"/>
            <a:ext cx="13190347" cy="7649040"/>
          </a:xfrm>
          <a:prstGeom prst="rect">
            <a:avLst/>
          </a:prstGeom>
        </p:spPr>
      </p:pic>
    </p:spTree>
    <p:extLst>
      <p:ext uri="{BB962C8B-B14F-4D97-AF65-F5344CB8AC3E}">
        <p14:creationId xmlns:p14="http://schemas.microsoft.com/office/powerpoint/2010/main" val="3495354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E2FA1-733E-F7E6-C6D5-AC3D8C324713}"/>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3DB5BD5C-65A2-3C76-E894-6BF50466334B}"/>
              </a:ext>
            </a:extLst>
          </p:cNvPr>
          <p:cNvSpPr txBox="1"/>
          <p:nvPr/>
        </p:nvSpPr>
        <p:spPr>
          <a:xfrm>
            <a:off x="762000" y="8944323"/>
            <a:ext cx="16999072" cy="430887"/>
          </a:xfrm>
          <a:prstGeom prst="rect">
            <a:avLst/>
          </a:prstGeom>
        </p:spPr>
        <p:txBody>
          <a:bodyPr wrap="square" lIns="0" tIns="0" rIns="0" bIns="0" rtlCol="0" anchor="t">
            <a:spAutoFit/>
          </a:bodyPr>
          <a:lstStyle/>
          <a:p>
            <a:r>
              <a:rPr lang="en-US" sz="2800" b="1" dirty="0">
                <a:solidFill>
                  <a:srgbClr val="114330"/>
                </a:solidFill>
                <a:latin typeface="Montserrat" pitchFamily="2" charset="77"/>
              </a:rPr>
              <a:t>Customers with lower tenure are more likely to churn.</a:t>
            </a:r>
          </a:p>
        </p:txBody>
      </p:sp>
      <p:sp>
        <p:nvSpPr>
          <p:cNvPr id="6" name="TextBox 6">
            <a:extLst>
              <a:ext uri="{FF2B5EF4-FFF2-40B4-BE49-F238E27FC236}">
                <a16:creationId xmlns:a16="http://schemas.microsoft.com/office/drawing/2014/main" id="{A47D04E4-0160-C416-F1DF-07C17BD07164}"/>
              </a:ext>
            </a:extLst>
          </p:cNvPr>
          <p:cNvSpPr txBox="1"/>
          <p:nvPr/>
        </p:nvSpPr>
        <p:spPr>
          <a:xfrm>
            <a:off x="1674148" y="1065678"/>
            <a:ext cx="2349348" cy="346249"/>
          </a:xfrm>
          <a:prstGeom prst="rect">
            <a:avLst/>
          </a:prstGeom>
        </p:spPr>
        <p:txBody>
          <a:bodyPr lIns="0" tIns="0" rIns="0" bIns="0" rtlCol="0" anchor="t">
            <a:spAutoFit/>
          </a:bodyPr>
          <a:lstStyle/>
          <a:p>
            <a:pPr algn="l">
              <a:lnSpc>
                <a:spcPts val="2734"/>
              </a:lnSpc>
            </a:pPr>
            <a:endParaRPr lang="en-US" sz="2441" b="1" dirty="0">
              <a:solidFill>
                <a:srgbClr val="174143"/>
              </a:solidFill>
              <a:latin typeface="Montserrat Medium"/>
              <a:ea typeface="Montserrat Medium"/>
              <a:cs typeface="Montserrat Medium"/>
              <a:sym typeface="Montserrat Medium"/>
            </a:endParaRPr>
          </a:p>
        </p:txBody>
      </p:sp>
      <p:pic>
        <p:nvPicPr>
          <p:cNvPr id="4" name="Picture 3" descr="A diagram of a customer&#10;&#10;AI-generated content may be incorrect.">
            <a:extLst>
              <a:ext uri="{FF2B5EF4-FFF2-40B4-BE49-F238E27FC236}">
                <a16:creationId xmlns:a16="http://schemas.microsoft.com/office/drawing/2014/main" id="{65758A7E-69E0-5629-1233-0A260F2771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190500"/>
            <a:ext cx="10744200" cy="8564848"/>
          </a:xfrm>
          <a:prstGeom prst="rect">
            <a:avLst/>
          </a:prstGeom>
        </p:spPr>
      </p:pic>
    </p:spTree>
    <p:extLst>
      <p:ext uri="{BB962C8B-B14F-4D97-AF65-F5344CB8AC3E}">
        <p14:creationId xmlns:p14="http://schemas.microsoft.com/office/powerpoint/2010/main" val="3859210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A2AF9-7E4C-A14A-3E1F-B02F07C20E0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553585F-E372-07C2-27CC-B53602696AA6}"/>
              </a:ext>
            </a:extLst>
          </p:cNvPr>
          <p:cNvSpPr/>
          <p:nvPr/>
        </p:nvSpPr>
        <p:spPr>
          <a:xfrm>
            <a:off x="7418447" y="-184455"/>
            <a:ext cx="12966262" cy="10655910"/>
          </a:xfrm>
          <a:custGeom>
            <a:avLst/>
            <a:gdLst/>
            <a:ahLst/>
            <a:cxnLst/>
            <a:rect l="l" t="t" r="r" b="b"/>
            <a:pathLst>
              <a:path w="12966262" h="10655910">
                <a:moveTo>
                  <a:pt x="0" y="0"/>
                </a:moveTo>
                <a:lnTo>
                  <a:pt x="12966262" y="0"/>
                </a:lnTo>
                <a:lnTo>
                  <a:pt x="12966262" y="10655910"/>
                </a:lnTo>
                <a:lnTo>
                  <a:pt x="0" y="106559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B9FE08FB-F158-A1E9-80CF-233FDDF57B87}"/>
              </a:ext>
            </a:extLst>
          </p:cNvPr>
          <p:cNvSpPr txBox="1"/>
          <p:nvPr/>
        </p:nvSpPr>
        <p:spPr>
          <a:xfrm>
            <a:off x="1014943" y="2324100"/>
            <a:ext cx="7124700" cy="833562"/>
          </a:xfrm>
          <a:prstGeom prst="rect">
            <a:avLst/>
          </a:prstGeom>
        </p:spPr>
        <p:txBody>
          <a:bodyPr wrap="square" lIns="0" tIns="0" rIns="0" bIns="0" rtlCol="0" anchor="t">
            <a:spAutoFit/>
          </a:bodyPr>
          <a:lstStyle/>
          <a:p>
            <a:pPr>
              <a:lnSpc>
                <a:spcPts val="6496"/>
              </a:lnSpc>
            </a:pPr>
            <a:r>
              <a:rPr lang="en-US" sz="5600" b="1" dirty="0">
                <a:solidFill>
                  <a:srgbClr val="174143"/>
                </a:solidFill>
                <a:latin typeface="Montserrat Bold"/>
                <a:ea typeface="Montserrat Bold"/>
                <a:cs typeface="Montserrat Bold"/>
                <a:sym typeface="Montserrat Bold"/>
              </a:rPr>
              <a:t>Models</a:t>
            </a:r>
          </a:p>
        </p:txBody>
      </p:sp>
      <p:sp>
        <p:nvSpPr>
          <p:cNvPr id="8" name="TextBox 7">
            <a:extLst>
              <a:ext uri="{FF2B5EF4-FFF2-40B4-BE49-F238E27FC236}">
                <a16:creationId xmlns:a16="http://schemas.microsoft.com/office/drawing/2014/main" id="{C1C42F23-6231-D139-B377-7C968E9B537A}"/>
              </a:ext>
            </a:extLst>
          </p:cNvPr>
          <p:cNvSpPr txBox="1"/>
          <p:nvPr/>
        </p:nvSpPr>
        <p:spPr>
          <a:xfrm>
            <a:off x="6547104" y="4206240"/>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D985A633-D93F-C532-DC56-EC75EAC2EBE0}"/>
              </a:ext>
            </a:extLst>
          </p:cNvPr>
          <p:cNvSpPr txBox="1"/>
          <p:nvPr/>
        </p:nvSpPr>
        <p:spPr>
          <a:xfrm>
            <a:off x="1014943" y="3683020"/>
            <a:ext cx="10190480" cy="4154984"/>
          </a:xfrm>
          <a:prstGeom prst="rect">
            <a:avLst/>
          </a:prstGeom>
          <a:noFill/>
        </p:spPr>
        <p:txBody>
          <a:bodyPr wrap="square">
            <a:spAutoFit/>
          </a:bodyPr>
          <a:lstStyle/>
          <a:p>
            <a:r>
              <a:rPr lang="en-US" sz="2400" b="1" dirty="0">
                <a:solidFill>
                  <a:srgbClr val="114330"/>
                </a:solidFill>
                <a:latin typeface="Montserrat" pitchFamily="2" charset="77"/>
              </a:rPr>
              <a:t>Multiple machine learning models were trained to compare performance, including:</a:t>
            </a:r>
          </a:p>
          <a:p>
            <a:endParaRPr lang="en-US" sz="2400" b="1" dirty="0">
              <a:solidFill>
                <a:srgbClr val="114330"/>
              </a:solidFill>
              <a:latin typeface="Montserrat" pitchFamily="2" charset="77"/>
            </a:endParaRPr>
          </a:p>
          <a:p>
            <a:pPr marL="457200" indent="-457200">
              <a:buFont typeface="Arial" panose="020B0604020202020204" pitchFamily="34" charset="0"/>
              <a:buChar char="•"/>
            </a:pPr>
            <a:r>
              <a:rPr lang="en-US" sz="2400" b="1" dirty="0">
                <a:solidFill>
                  <a:srgbClr val="114330"/>
                </a:solidFill>
                <a:latin typeface="Montserrat" pitchFamily="2" charset="77"/>
              </a:rPr>
              <a:t>Logistic Regression</a:t>
            </a:r>
          </a:p>
          <a:p>
            <a:pPr marL="457200" indent="-457200">
              <a:buFont typeface="Arial" panose="020B0604020202020204" pitchFamily="34" charset="0"/>
              <a:buChar char="•"/>
            </a:pPr>
            <a:r>
              <a:rPr lang="en-US" sz="2400" b="1" dirty="0">
                <a:solidFill>
                  <a:srgbClr val="114330"/>
                </a:solidFill>
                <a:latin typeface="Montserrat" pitchFamily="2" charset="77"/>
              </a:rPr>
              <a:t>Decision Tree</a:t>
            </a:r>
          </a:p>
          <a:p>
            <a:pPr marL="457200" indent="-457200">
              <a:buFont typeface="Arial" panose="020B0604020202020204" pitchFamily="34" charset="0"/>
              <a:buChar char="•"/>
            </a:pPr>
            <a:r>
              <a:rPr lang="en-US" sz="2400" b="1" dirty="0">
                <a:solidFill>
                  <a:srgbClr val="114330"/>
                </a:solidFill>
                <a:latin typeface="Montserrat" pitchFamily="2" charset="77"/>
              </a:rPr>
              <a:t>Random Forest</a:t>
            </a:r>
          </a:p>
          <a:p>
            <a:pPr marL="457200" indent="-457200">
              <a:buFont typeface="Arial" panose="020B0604020202020204" pitchFamily="34" charset="0"/>
              <a:buChar char="•"/>
            </a:pPr>
            <a:r>
              <a:rPr lang="en-US" sz="2400" b="1" dirty="0">
                <a:solidFill>
                  <a:srgbClr val="114330"/>
                </a:solidFill>
                <a:latin typeface="Montserrat" pitchFamily="2" charset="77"/>
              </a:rPr>
              <a:t>Gradient Boosting</a:t>
            </a:r>
          </a:p>
          <a:p>
            <a:pPr marL="457200" indent="-457200">
              <a:buFont typeface="Arial" panose="020B0604020202020204" pitchFamily="34" charset="0"/>
              <a:buChar char="•"/>
            </a:pPr>
            <a:r>
              <a:rPr lang="en-US" sz="2400" b="1" dirty="0">
                <a:solidFill>
                  <a:srgbClr val="114330"/>
                </a:solidFill>
                <a:latin typeface="Montserrat" pitchFamily="2" charset="77"/>
              </a:rPr>
              <a:t>XGBoost</a:t>
            </a:r>
          </a:p>
          <a:p>
            <a:pPr marL="457200" indent="-457200">
              <a:buFont typeface="Arial" panose="020B0604020202020204" pitchFamily="34" charset="0"/>
              <a:buChar char="•"/>
            </a:pPr>
            <a:r>
              <a:rPr lang="en-US" sz="2400" b="1" dirty="0">
                <a:solidFill>
                  <a:srgbClr val="114330"/>
                </a:solidFill>
                <a:latin typeface="Montserrat" pitchFamily="2" charset="77"/>
              </a:rPr>
              <a:t>LightGBM</a:t>
            </a:r>
          </a:p>
          <a:p>
            <a:pPr marL="457200" indent="-457200">
              <a:buFont typeface="Arial" panose="020B0604020202020204" pitchFamily="34" charset="0"/>
              <a:buChar char="•"/>
            </a:pPr>
            <a:r>
              <a:rPr lang="en-US" sz="2400" b="1" dirty="0">
                <a:solidFill>
                  <a:srgbClr val="114330"/>
                </a:solidFill>
                <a:latin typeface="Montserrat" pitchFamily="2" charset="77"/>
              </a:rPr>
              <a:t>Artificial Neural Network (ANN)</a:t>
            </a:r>
          </a:p>
          <a:p>
            <a:endParaRPr lang="en-US" sz="2400" b="1" dirty="0">
              <a:solidFill>
                <a:srgbClr val="114330"/>
              </a:solidFill>
              <a:latin typeface="Montserrat" pitchFamily="2" charset="77"/>
            </a:endParaRPr>
          </a:p>
        </p:txBody>
      </p:sp>
    </p:spTree>
    <p:extLst>
      <p:ext uri="{BB962C8B-B14F-4D97-AF65-F5344CB8AC3E}">
        <p14:creationId xmlns:p14="http://schemas.microsoft.com/office/powerpoint/2010/main" val="3239153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639ED-B108-BF68-3029-CE52D10F5EC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091530D-DBB8-D95F-E0BA-2FA071430A41}"/>
              </a:ext>
            </a:extLst>
          </p:cNvPr>
          <p:cNvSpPr/>
          <p:nvPr/>
        </p:nvSpPr>
        <p:spPr>
          <a:xfrm>
            <a:off x="7418447" y="-184455"/>
            <a:ext cx="12966262" cy="10655910"/>
          </a:xfrm>
          <a:custGeom>
            <a:avLst/>
            <a:gdLst/>
            <a:ahLst/>
            <a:cxnLst/>
            <a:rect l="l" t="t" r="r" b="b"/>
            <a:pathLst>
              <a:path w="12966262" h="10655910">
                <a:moveTo>
                  <a:pt x="0" y="0"/>
                </a:moveTo>
                <a:lnTo>
                  <a:pt x="12966262" y="0"/>
                </a:lnTo>
                <a:lnTo>
                  <a:pt x="12966262" y="10655910"/>
                </a:lnTo>
                <a:lnTo>
                  <a:pt x="0" y="106559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E3CDA647-8F29-1188-1628-B30EF72BDACA}"/>
              </a:ext>
            </a:extLst>
          </p:cNvPr>
          <p:cNvSpPr txBox="1"/>
          <p:nvPr/>
        </p:nvSpPr>
        <p:spPr>
          <a:xfrm>
            <a:off x="1014943" y="2324100"/>
            <a:ext cx="7124700" cy="833562"/>
          </a:xfrm>
          <a:prstGeom prst="rect">
            <a:avLst/>
          </a:prstGeom>
        </p:spPr>
        <p:txBody>
          <a:bodyPr wrap="square" lIns="0" tIns="0" rIns="0" bIns="0" rtlCol="0" anchor="t">
            <a:spAutoFit/>
          </a:bodyPr>
          <a:lstStyle/>
          <a:p>
            <a:pPr>
              <a:lnSpc>
                <a:spcPts val="6496"/>
              </a:lnSpc>
            </a:pPr>
            <a:r>
              <a:rPr lang="en-US" sz="5600" b="1" dirty="0">
                <a:solidFill>
                  <a:srgbClr val="174143"/>
                </a:solidFill>
                <a:latin typeface="Montserrat Bold"/>
                <a:ea typeface="Montserrat Bold"/>
                <a:cs typeface="Montserrat Bold"/>
                <a:sym typeface="Montserrat Bold"/>
              </a:rPr>
              <a:t>Model Evaluation</a:t>
            </a:r>
          </a:p>
        </p:txBody>
      </p:sp>
      <p:sp>
        <p:nvSpPr>
          <p:cNvPr id="8" name="TextBox 7">
            <a:extLst>
              <a:ext uri="{FF2B5EF4-FFF2-40B4-BE49-F238E27FC236}">
                <a16:creationId xmlns:a16="http://schemas.microsoft.com/office/drawing/2014/main" id="{7C1F7359-FD41-9BED-B64C-46B76FBCB6BF}"/>
              </a:ext>
            </a:extLst>
          </p:cNvPr>
          <p:cNvSpPr txBox="1"/>
          <p:nvPr/>
        </p:nvSpPr>
        <p:spPr>
          <a:xfrm>
            <a:off x="6547104" y="4206240"/>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0FF1DEF2-6CBE-B0A6-E9F2-A490B5D04BA4}"/>
              </a:ext>
            </a:extLst>
          </p:cNvPr>
          <p:cNvSpPr txBox="1"/>
          <p:nvPr/>
        </p:nvSpPr>
        <p:spPr>
          <a:xfrm>
            <a:off x="1014943" y="3683020"/>
            <a:ext cx="10190480" cy="4524315"/>
          </a:xfrm>
          <a:prstGeom prst="rect">
            <a:avLst/>
          </a:prstGeom>
          <a:noFill/>
        </p:spPr>
        <p:txBody>
          <a:bodyPr wrap="square">
            <a:spAutoFit/>
          </a:bodyPr>
          <a:lstStyle/>
          <a:p>
            <a:r>
              <a:rPr lang="en-US" sz="2400" b="1" dirty="0">
                <a:solidFill>
                  <a:srgbClr val="114330"/>
                </a:solidFill>
                <a:latin typeface="Montserrat" pitchFamily="2" charset="77"/>
              </a:rPr>
              <a:t>Because churn prediction focuses on identifying customers who may leave, the models were evaluated using metrics that measure the ability to detect churn cases.</a:t>
            </a:r>
          </a:p>
          <a:p>
            <a:endParaRPr lang="en-US" sz="2400" b="1" dirty="0">
              <a:solidFill>
                <a:srgbClr val="114330"/>
              </a:solidFill>
              <a:latin typeface="Montserrat" pitchFamily="2" charset="77"/>
            </a:endParaRPr>
          </a:p>
          <a:p>
            <a:r>
              <a:rPr lang="en-US" sz="2400" b="1" dirty="0">
                <a:solidFill>
                  <a:srgbClr val="114330"/>
                </a:solidFill>
                <a:latin typeface="Montserrat" pitchFamily="2" charset="77"/>
              </a:rPr>
              <a:t>Key evaluation metrics included:</a:t>
            </a:r>
          </a:p>
          <a:p>
            <a:pPr marL="457200" indent="-457200">
              <a:buFont typeface="Arial" panose="020B0604020202020204" pitchFamily="34" charset="0"/>
              <a:buChar char="•"/>
            </a:pPr>
            <a:endParaRPr lang="en-US" sz="2400" b="1" dirty="0">
              <a:solidFill>
                <a:srgbClr val="114330"/>
              </a:solidFill>
              <a:latin typeface="Montserrat" pitchFamily="2" charset="77"/>
            </a:endParaRPr>
          </a:p>
          <a:p>
            <a:pPr marL="457200" indent="-457200">
              <a:buFont typeface="Arial" panose="020B0604020202020204" pitchFamily="34" charset="0"/>
              <a:buChar char="•"/>
            </a:pPr>
            <a:r>
              <a:rPr lang="en-US" sz="2400" b="1" dirty="0">
                <a:solidFill>
                  <a:srgbClr val="114330"/>
                </a:solidFill>
                <a:latin typeface="Montserrat" pitchFamily="2" charset="77"/>
              </a:rPr>
              <a:t>Recall (ability to identify churn customers)</a:t>
            </a:r>
          </a:p>
          <a:p>
            <a:pPr marL="457200" indent="-457200">
              <a:buFont typeface="Arial" panose="020B0604020202020204" pitchFamily="34" charset="0"/>
              <a:buChar char="•"/>
            </a:pPr>
            <a:r>
              <a:rPr lang="en-US" sz="2400" b="1" dirty="0">
                <a:solidFill>
                  <a:srgbClr val="114330"/>
                </a:solidFill>
                <a:latin typeface="Montserrat" pitchFamily="2" charset="77"/>
              </a:rPr>
              <a:t>F1-score (balance between correct predictions and false alarms)</a:t>
            </a:r>
          </a:p>
          <a:p>
            <a:pPr marL="457200" indent="-457200">
              <a:buFont typeface="Arial" panose="020B0604020202020204" pitchFamily="34" charset="0"/>
              <a:buChar char="•"/>
            </a:pPr>
            <a:r>
              <a:rPr lang="en-US" sz="2400" b="1" dirty="0">
                <a:solidFill>
                  <a:srgbClr val="114330"/>
                </a:solidFill>
                <a:latin typeface="Montserrat" pitchFamily="2" charset="77"/>
              </a:rPr>
              <a:t>Accuracy (overall prediction performance)</a:t>
            </a:r>
          </a:p>
          <a:p>
            <a:endParaRPr lang="en-US" sz="2400" b="1" dirty="0">
              <a:solidFill>
                <a:srgbClr val="114330"/>
              </a:solidFill>
              <a:latin typeface="Montserrat" pitchFamily="2" charset="77"/>
            </a:endParaRPr>
          </a:p>
          <a:p>
            <a:endParaRPr lang="en-US" sz="2400" b="1" dirty="0">
              <a:solidFill>
                <a:srgbClr val="114330"/>
              </a:solidFill>
              <a:latin typeface="Montserrat" pitchFamily="2" charset="77"/>
            </a:endParaRPr>
          </a:p>
        </p:txBody>
      </p:sp>
    </p:spTree>
    <p:extLst>
      <p:ext uri="{BB962C8B-B14F-4D97-AF65-F5344CB8AC3E}">
        <p14:creationId xmlns:p14="http://schemas.microsoft.com/office/powerpoint/2010/main" val="96375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F8E28-17C4-E7F9-2BEC-55A0931082A9}"/>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EFB4ABD6-6346-EF6D-FE64-0F65754C6F97}"/>
              </a:ext>
            </a:extLst>
          </p:cNvPr>
          <p:cNvSpPr txBox="1"/>
          <p:nvPr/>
        </p:nvSpPr>
        <p:spPr>
          <a:xfrm>
            <a:off x="762000" y="9015505"/>
            <a:ext cx="16999072" cy="1292662"/>
          </a:xfrm>
          <a:prstGeom prst="rect">
            <a:avLst/>
          </a:prstGeom>
        </p:spPr>
        <p:txBody>
          <a:bodyPr wrap="square" lIns="0" tIns="0" rIns="0" bIns="0" rtlCol="0" anchor="t">
            <a:spAutoFit/>
          </a:bodyPr>
          <a:lstStyle/>
          <a:p>
            <a:r>
              <a:rPr lang="en-US" sz="2800" b="1" dirty="0">
                <a:solidFill>
                  <a:srgbClr val="114330"/>
                </a:solidFill>
                <a:latin typeface="Montserrat" pitchFamily="2" charset="77"/>
              </a:rPr>
              <a:t>This chart compares how well different machine learning models predict customer churn. The models perform similarly, with Random Forest and Gradient Boosting achieving the highest accuracy at around 87%.</a:t>
            </a:r>
          </a:p>
        </p:txBody>
      </p:sp>
      <p:sp>
        <p:nvSpPr>
          <p:cNvPr id="6" name="TextBox 6">
            <a:extLst>
              <a:ext uri="{FF2B5EF4-FFF2-40B4-BE49-F238E27FC236}">
                <a16:creationId xmlns:a16="http://schemas.microsoft.com/office/drawing/2014/main" id="{1CFB6188-1086-8848-38C2-DB892421DEAF}"/>
              </a:ext>
            </a:extLst>
          </p:cNvPr>
          <p:cNvSpPr txBox="1"/>
          <p:nvPr/>
        </p:nvSpPr>
        <p:spPr>
          <a:xfrm>
            <a:off x="1674148" y="1065678"/>
            <a:ext cx="2349348" cy="346249"/>
          </a:xfrm>
          <a:prstGeom prst="rect">
            <a:avLst/>
          </a:prstGeom>
        </p:spPr>
        <p:txBody>
          <a:bodyPr lIns="0" tIns="0" rIns="0" bIns="0" rtlCol="0" anchor="t">
            <a:spAutoFit/>
          </a:bodyPr>
          <a:lstStyle/>
          <a:p>
            <a:pPr algn="l">
              <a:lnSpc>
                <a:spcPts val="2734"/>
              </a:lnSpc>
            </a:pPr>
            <a:endParaRPr lang="en-US" sz="2441" b="1" dirty="0">
              <a:solidFill>
                <a:srgbClr val="174143"/>
              </a:solidFill>
              <a:latin typeface="Montserrat Medium"/>
              <a:ea typeface="Montserrat Medium"/>
              <a:cs typeface="Montserrat Medium"/>
              <a:sym typeface="Montserrat Medium"/>
            </a:endParaRPr>
          </a:p>
        </p:txBody>
      </p:sp>
      <p:pic>
        <p:nvPicPr>
          <p:cNvPr id="5" name="Picture 4" descr="A graph of blue rectangular bars with text&#10;&#10;AI-generated content may be incorrect.">
            <a:extLst>
              <a:ext uri="{FF2B5EF4-FFF2-40B4-BE49-F238E27FC236}">
                <a16:creationId xmlns:a16="http://schemas.microsoft.com/office/drawing/2014/main" id="{3D662A04-B1F9-2331-9429-F499F1CFE3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0"/>
            <a:ext cx="12010178" cy="8814082"/>
          </a:xfrm>
          <a:prstGeom prst="rect">
            <a:avLst/>
          </a:prstGeom>
        </p:spPr>
      </p:pic>
    </p:spTree>
    <p:extLst>
      <p:ext uri="{BB962C8B-B14F-4D97-AF65-F5344CB8AC3E}">
        <p14:creationId xmlns:p14="http://schemas.microsoft.com/office/powerpoint/2010/main" val="1614860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D2A46-3840-6C50-60ED-C0AFDC473780}"/>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79DF3CD2-7C07-728A-563A-58CC04443A98}"/>
              </a:ext>
            </a:extLst>
          </p:cNvPr>
          <p:cNvSpPr txBox="1"/>
          <p:nvPr/>
        </p:nvSpPr>
        <p:spPr>
          <a:xfrm>
            <a:off x="1294274" y="9054098"/>
            <a:ext cx="15699452" cy="1292662"/>
          </a:xfrm>
          <a:prstGeom prst="rect">
            <a:avLst/>
          </a:prstGeom>
        </p:spPr>
        <p:txBody>
          <a:bodyPr wrap="square" lIns="0" tIns="0" rIns="0" bIns="0" rtlCol="0" anchor="t">
            <a:spAutoFit/>
          </a:bodyPr>
          <a:lstStyle/>
          <a:p>
            <a:r>
              <a:rPr lang="en-US" sz="2800" b="1" dirty="0">
                <a:solidFill>
                  <a:srgbClr val="114330"/>
                </a:solidFill>
                <a:latin typeface="Montserrat" pitchFamily="2" charset="77"/>
              </a:rPr>
              <a:t>Gradient Boosting and XGBoost achieved the highest Recall and F1-scores, indicating that these models are more effective at identifying customers who are likely to churn.</a:t>
            </a:r>
          </a:p>
        </p:txBody>
      </p:sp>
      <p:sp>
        <p:nvSpPr>
          <p:cNvPr id="6" name="TextBox 6">
            <a:extLst>
              <a:ext uri="{FF2B5EF4-FFF2-40B4-BE49-F238E27FC236}">
                <a16:creationId xmlns:a16="http://schemas.microsoft.com/office/drawing/2014/main" id="{E2A38539-31CB-2236-106E-21F547F3D0BD}"/>
              </a:ext>
            </a:extLst>
          </p:cNvPr>
          <p:cNvSpPr txBox="1"/>
          <p:nvPr/>
        </p:nvSpPr>
        <p:spPr>
          <a:xfrm>
            <a:off x="1674148" y="1065678"/>
            <a:ext cx="2349348" cy="346249"/>
          </a:xfrm>
          <a:prstGeom prst="rect">
            <a:avLst/>
          </a:prstGeom>
        </p:spPr>
        <p:txBody>
          <a:bodyPr lIns="0" tIns="0" rIns="0" bIns="0" rtlCol="0" anchor="t">
            <a:spAutoFit/>
          </a:bodyPr>
          <a:lstStyle/>
          <a:p>
            <a:pPr algn="l">
              <a:lnSpc>
                <a:spcPts val="2734"/>
              </a:lnSpc>
            </a:pPr>
            <a:endParaRPr lang="en-US" sz="2441" b="1" dirty="0">
              <a:solidFill>
                <a:srgbClr val="174143"/>
              </a:solidFill>
              <a:latin typeface="Montserrat Medium"/>
              <a:ea typeface="Montserrat Medium"/>
              <a:cs typeface="Montserrat Medium"/>
              <a:sym typeface="Montserrat Medium"/>
            </a:endParaRPr>
          </a:p>
        </p:txBody>
      </p:sp>
      <p:pic>
        <p:nvPicPr>
          <p:cNvPr id="5" name="Picture 4" descr="A graph of blue and orange bars&#10;&#10;AI-generated content may be incorrect.">
            <a:extLst>
              <a:ext uri="{FF2B5EF4-FFF2-40B4-BE49-F238E27FC236}">
                <a16:creationId xmlns:a16="http://schemas.microsoft.com/office/drawing/2014/main" id="{815A8A0A-128B-B759-9144-96D8411C32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200" y="114300"/>
            <a:ext cx="11734800" cy="8611986"/>
          </a:xfrm>
          <a:prstGeom prst="rect">
            <a:avLst/>
          </a:prstGeom>
        </p:spPr>
      </p:pic>
    </p:spTree>
    <p:extLst>
      <p:ext uri="{BB962C8B-B14F-4D97-AF65-F5344CB8AC3E}">
        <p14:creationId xmlns:p14="http://schemas.microsoft.com/office/powerpoint/2010/main" val="562236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51852-0F5A-3512-CF50-091C783D94BC}"/>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B233660F-ACC6-66D7-FEF7-6869C8CBD1FE}"/>
              </a:ext>
            </a:extLst>
          </p:cNvPr>
          <p:cNvSpPr txBox="1"/>
          <p:nvPr/>
        </p:nvSpPr>
        <p:spPr>
          <a:xfrm>
            <a:off x="1014943" y="2324100"/>
            <a:ext cx="7124700" cy="833562"/>
          </a:xfrm>
          <a:prstGeom prst="rect">
            <a:avLst/>
          </a:prstGeom>
        </p:spPr>
        <p:txBody>
          <a:bodyPr wrap="square" lIns="0" tIns="0" rIns="0" bIns="0" rtlCol="0" anchor="t">
            <a:spAutoFit/>
          </a:bodyPr>
          <a:lstStyle/>
          <a:p>
            <a:pPr algn="l">
              <a:lnSpc>
                <a:spcPts val="6496"/>
              </a:lnSpc>
            </a:pPr>
            <a:r>
              <a:rPr lang="en-US" sz="5600" b="1" dirty="0">
                <a:solidFill>
                  <a:srgbClr val="174143"/>
                </a:solidFill>
                <a:latin typeface="Montserrat Bold"/>
                <a:ea typeface="Montserrat Bold"/>
                <a:cs typeface="Montserrat Bold"/>
                <a:sym typeface="Montserrat Bold"/>
              </a:rPr>
              <a:t>Key Results</a:t>
            </a:r>
          </a:p>
        </p:txBody>
      </p:sp>
      <p:sp>
        <p:nvSpPr>
          <p:cNvPr id="8" name="TextBox 7">
            <a:extLst>
              <a:ext uri="{FF2B5EF4-FFF2-40B4-BE49-F238E27FC236}">
                <a16:creationId xmlns:a16="http://schemas.microsoft.com/office/drawing/2014/main" id="{7C0B424B-4A8C-8B49-79A1-1F457BC22965}"/>
              </a:ext>
            </a:extLst>
          </p:cNvPr>
          <p:cNvSpPr txBox="1"/>
          <p:nvPr/>
        </p:nvSpPr>
        <p:spPr>
          <a:xfrm>
            <a:off x="6547104" y="4206240"/>
            <a:ext cx="184731" cy="369332"/>
          </a:xfrm>
          <a:prstGeom prst="rect">
            <a:avLst/>
          </a:prstGeom>
          <a:noFill/>
        </p:spPr>
        <p:txBody>
          <a:bodyPr wrap="none" rtlCol="0">
            <a:spAutoFit/>
          </a:bodyPr>
          <a:lstStyle/>
          <a:p>
            <a:endParaRPr lang="en-US" dirty="0"/>
          </a:p>
        </p:txBody>
      </p:sp>
      <p:graphicFrame>
        <p:nvGraphicFramePr>
          <p:cNvPr id="6" name="Table 5">
            <a:extLst>
              <a:ext uri="{FF2B5EF4-FFF2-40B4-BE49-F238E27FC236}">
                <a16:creationId xmlns:a16="http://schemas.microsoft.com/office/drawing/2014/main" id="{11253EEF-B16E-F937-3ECE-335F63EAFAB0}"/>
              </a:ext>
            </a:extLst>
          </p:cNvPr>
          <p:cNvGraphicFramePr>
            <a:graphicFrameLocks noGrp="1"/>
          </p:cNvGraphicFramePr>
          <p:nvPr>
            <p:extLst>
              <p:ext uri="{D42A27DB-BD31-4B8C-83A1-F6EECF244321}">
                <p14:modId xmlns:p14="http://schemas.microsoft.com/office/powerpoint/2010/main" val="2176141872"/>
              </p:ext>
            </p:extLst>
          </p:nvPr>
        </p:nvGraphicFramePr>
        <p:xfrm>
          <a:off x="1014942" y="3945254"/>
          <a:ext cx="10415055" cy="4246244"/>
        </p:xfrm>
        <a:graphic>
          <a:graphicData uri="http://schemas.openxmlformats.org/drawingml/2006/table">
            <a:tbl>
              <a:tblPr firstRow="1"/>
              <a:tblGrid>
                <a:gridCol w="2083011">
                  <a:extLst>
                    <a:ext uri="{9D8B030D-6E8A-4147-A177-3AD203B41FA5}">
                      <a16:colId xmlns:a16="http://schemas.microsoft.com/office/drawing/2014/main" val="1994315100"/>
                    </a:ext>
                  </a:extLst>
                </a:gridCol>
                <a:gridCol w="2083011">
                  <a:extLst>
                    <a:ext uri="{9D8B030D-6E8A-4147-A177-3AD203B41FA5}">
                      <a16:colId xmlns:a16="http://schemas.microsoft.com/office/drawing/2014/main" val="2709434798"/>
                    </a:ext>
                  </a:extLst>
                </a:gridCol>
                <a:gridCol w="2083011">
                  <a:extLst>
                    <a:ext uri="{9D8B030D-6E8A-4147-A177-3AD203B41FA5}">
                      <a16:colId xmlns:a16="http://schemas.microsoft.com/office/drawing/2014/main" val="1755845614"/>
                    </a:ext>
                  </a:extLst>
                </a:gridCol>
                <a:gridCol w="2083011">
                  <a:extLst>
                    <a:ext uri="{9D8B030D-6E8A-4147-A177-3AD203B41FA5}">
                      <a16:colId xmlns:a16="http://schemas.microsoft.com/office/drawing/2014/main" val="2055601714"/>
                    </a:ext>
                  </a:extLst>
                </a:gridCol>
                <a:gridCol w="2083011">
                  <a:extLst>
                    <a:ext uri="{9D8B030D-6E8A-4147-A177-3AD203B41FA5}">
                      <a16:colId xmlns:a16="http://schemas.microsoft.com/office/drawing/2014/main" val="3172757746"/>
                    </a:ext>
                  </a:extLst>
                </a:gridCol>
              </a:tblGrid>
              <a:tr h="654826">
                <a:tc>
                  <a:txBody>
                    <a:bodyPr/>
                    <a:lstStyle/>
                    <a:p>
                      <a:pPr algn="l">
                        <a:buNone/>
                      </a:pPr>
                      <a:r>
                        <a:rPr lang="en-US" b="1" dirty="0">
                          <a:solidFill>
                            <a:srgbClr val="164142"/>
                          </a:solidFill>
                          <a:effectLst/>
                          <a:latin typeface="Montserrat" pitchFamily="2" charset="77"/>
                        </a:rPr>
                        <a:t>Model</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lgn="l">
                        <a:buNone/>
                      </a:pPr>
                      <a:r>
                        <a:rPr lang="en-US" b="1" dirty="0">
                          <a:solidFill>
                            <a:srgbClr val="164142"/>
                          </a:solidFill>
                          <a:effectLst/>
                          <a:latin typeface="Montserrat" pitchFamily="2" charset="77"/>
                        </a:rPr>
                        <a:t>ROC-AUC</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lgn="l">
                        <a:buNone/>
                      </a:pPr>
                      <a:r>
                        <a:rPr lang="en-US" b="1">
                          <a:solidFill>
                            <a:srgbClr val="164142"/>
                          </a:solidFill>
                          <a:effectLst/>
                          <a:latin typeface="Montserrat" pitchFamily="2" charset="77"/>
                        </a:rPr>
                        <a:t>Precision</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lgn="l">
                        <a:buNone/>
                      </a:pPr>
                      <a:r>
                        <a:rPr lang="en-US" b="1">
                          <a:solidFill>
                            <a:srgbClr val="164142"/>
                          </a:solidFill>
                          <a:effectLst/>
                          <a:latin typeface="Montserrat" pitchFamily="2" charset="77"/>
                        </a:rPr>
                        <a:t>Recall</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lgn="l">
                        <a:buNone/>
                      </a:pPr>
                      <a:r>
                        <a:rPr lang="en-US" b="1" dirty="0">
                          <a:solidFill>
                            <a:srgbClr val="164142"/>
                          </a:solidFill>
                          <a:effectLst/>
                          <a:latin typeface="Montserrat" pitchFamily="2" charset="77"/>
                        </a:rPr>
                        <a:t>F1 Score</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extLst>
                  <a:ext uri="{0D108BD9-81ED-4DB2-BD59-A6C34878D82A}">
                    <a16:rowId xmlns:a16="http://schemas.microsoft.com/office/drawing/2014/main" val="1751282236"/>
                  </a:ext>
                </a:extLst>
              </a:tr>
              <a:tr h="1140883">
                <a:tc>
                  <a:txBody>
                    <a:bodyPr/>
                    <a:lstStyle/>
                    <a:p>
                      <a:pPr>
                        <a:buNone/>
                      </a:pPr>
                      <a:r>
                        <a:rPr lang="en-US" b="1">
                          <a:solidFill>
                            <a:srgbClr val="164142"/>
                          </a:solidFill>
                          <a:effectLst/>
                          <a:latin typeface="Montserrat" pitchFamily="2" charset="77"/>
                        </a:rPr>
                        <a:t>Logistic Regression</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0.77</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0.48</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0.52</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0.49</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extLst>
                  <a:ext uri="{0D108BD9-81ED-4DB2-BD59-A6C34878D82A}">
                    <a16:rowId xmlns:a16="http://schemas.microsoft.com/office/drawing/2014/main" val="2213283825"/>
                  </a:ext>
                </a:extLst>
              </a:tr>
              <a:tr h="1140883">
                <a:tc>
                  <a:txBody>
                    <a:bodyPr/>
                    <a:lstStyle/>
                    <a:p>
                      <a:pPr>
                        <a:buNone/>
                      </a:pPr>
                      <a:r>
                        <a:rPr lang="en-US" b="1">
                          <a:solidFill>
                            <a:srgbClr val="164142"/>
                          </a:solidFill>
                          <a:effectLst/>
                          <a:latin typeface="Montserrat" pitchFamily="2" charset="77"/>
                        </a:rPr>
                        <a:t>Gradient Boosting</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0.87</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0.66</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0.63</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0.61</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extLst>
                  <a:ext uri="{0D108BD9-81ED-4DB2-BD59-A6C34878D82A}">
                    <a16:rowId xmlns:a16="http://schemas.microsoft.com/office/drawing/2014/main" val="234070896"/>
                  </a:ext>
                </a:extLst>
              </a:tr>
              <a:tr h="654826">
                <a:tc>
                  <a:txBody>
                    <a:bodyPr/>
                    <a:lstStyle/>
                    <a:p>
                      <a:pPr>
                        <a:buNone/>
                      </a:pPr>
                      <a:r>
                        <a:rPr lang="en-US" b="1">
                          <a:solidFill>
                            <a:srgbClr val="164142"/>
                          </a:solidFill>
                          <a:effectLst/>
                          <a:latin typeface="Montserrat" pitchFamily="2" charset="77"/>
                        </a:rPr>
                        <a:t>LGBMClassifier</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0.85</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0.64</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0.61</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0.62</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extLst>
                  <a:ext uri="{0D108BD9-81ED-4DB2-BD59-A6C34878D82A}">
                    <a16:rowId xmlns:a16="http://schemas.microsoft.com/office/drawing/2014/main" val="458851932"/>
                  </a:ext>
                </a:extLst>
              </a:tr>
              <a:tr h="654826">
                <a:tc>
                  <a:txBody>
                    <a:bodyPr/>
                    <a:lstStyle/>
                    <a:p>
                      <a:pPr>
                        <a:buNone/>
                      </a:pPr>
                      <a:r>
                        <a:rPr lang="en-US" b="1" dirty="0">
                          <a:solidFill>
                            <a:srgbClr val="164142"/>
                          </a:solidFill>
                          <a:effectLst/>
                          <a:latin typeface="Montserrat" pitchFamily="2" charset="77"/>
                        </a:rPr>
                        <a:t>XGBoost</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0.86</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a:solidFill>
                            <a:srgbClr val="164142"/>
                          </a:solidFill>
                          <a:effectLst/>
                          <a:latin typeface="Montserrat" pitchFamily="2" charset="77"/>
                        </a:rPr>
                        <a:t>0.69</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dirty="0">
                          <a:solidFill>
                            <a:srgbClr val="164142"/>
                          </a:solidFill>
                          <a:effectLst/>
                          <a:latin typeface="Montserrat" pitchFamily="2" charset="77"/>
                        </a:rPr>
                        <a:t>0.55</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tc>
                  <a:txBody>
                    <a:bodyPr/>
                    <a:lstStyle/>
                    <a:p>
                      <a:pPr>
                        <a:buNone/>
                      </a:pPr>
                      <a:r>
                        <a:rPr lang="en-US" dirty="0">
                          <a:solidFill>
                            <a:srgbClr val="164142"/>
                          </a:solidFill>
                          <a:effectLst/>
                          <a:latin typeface="Montserrat" pitchFamily="2" charset="77"/>
                        </a:rPr>
                        <a:t>0.61</a:t>
                      </a:r>
                    </a:p>
                  </a:txBody>
                  <a:tcPr marL="95250" marR="95250" marT="47625" marB="47625" anchor="ctr">
                    <a:lnL w="12700" cap="flat" cmpd="sng" algn="ctr">
                      <a:solidFill>
                        <a:srgbClr val="164142"/>
                      </a:solidFill>
                      <a:prstDash val="solid"/>
                      <a:round/>
                      <a:headEnd type="none" w="med" len="med"/>
                      <a:tailEnd type="none" w="med" len="med"/>
                    </a:lnL>
                    <a:lnR w="12700" cap="flat" cmpd="sng" algn="ctr">
                      <a:solidFill>
                        <a:srgbClr val="164142"/>
                      </a:solidFill>
                      <a:prstDash val="solid"/>
                      <a:round/>
                      <a:headEnd type="none" w="med" len="med"/>
                      <a:tailEnd type="none" w="med" len="med"/>
                    </a:lnR>
                    <a:lnT w="12700" cap="flat" cmpd="sng" algn="ctr">
                      <a:solidFill>
                        <a:srgbClr val="164142"/>
                      </a:solidFill>
                      <a:prstDash val="solid"/>
                      <a:round/>
                      <a:headEnd type="none" w="med" len="med"/>
                      <a:tailEnd type="none" w="med" len="med"/>
                    </a:lnT>
                    <a:lnB w="12700" cap="flat" cmpd="sng" algn="ctr">
                      <a:solidFill>
                        <a:srgbClr val="164142"/>
                      </a:solidFill>
                      <a:prstDash val="solid"/>
                      <a:round/>
                      <a:headEnd type="none" w="med" len="med"/>
                      <a:tailEnd type="none" w="med" len="med"/>
                    </a:lnB>
                    <a:noFill/>
                  </a:tcPr>
                </a:tc>
                <a:extLst>
                  <a:ext uri="{0D108BD9-81ED-4DB2-BD59-A6C34878D82A}">
                    <a16:rowId xmlns:a16="http://schemas.microsoft.com/office/drawing/2014/main" val="1524115800"/>
                  </a:ext>
                </a:extLst>
              </a:tr>
            </a:tbl>
          </a:graphicData>
        </a:graphic>
      </p:graphicFrame>
      <p:sp>
        <p:nvSpPr>
          <p:cNvPr id="7" name="Freeform 3">
            <a:extLst>
              <a:ext uri="{FF2B5EF4-FFF2-40B4-BE49-F238E27FC236}">
                <a16:creationId xmlns:a16="http://schemas.microsoft.com/office/drawing/2014/main" id="{601A4F9C-F30F-4626-BD00-CAC3C8A35E56}"/>
              </a:ext>
            </a:extLst>
          </p:cNvPr>
          <p:cNvSpPr/>
          <p:nvPr/>
        </p:nvSpPr>
        <p:spPr>
          <a:xfrm>
            <a:off x="10843953" y="-1028700"/>
            <a:ext cx="6415347" cy="10287000"/>
          </a:xfrm>
          <a:custGeom>
            <a:avLst/>
            <a:gdLst/>
            <a:ahLst/>
            <a:cxnLst/>
            <a:rect l="l" t="t" r="r" b="b"/>
            <a:pathLst>
              <a:path w="6415347" h="10287000">
                <a:moveTo>
                  <a:pt x="0" y="0"/>
                </a:moveTo>
                <a:lnTo>
                  <a:pt x="6415347" y="0"/>
                </a:lnTo>
                <a:lnTo>
                  <a:pt x="6415347" y="10287000"/>
                </a:lnTo>
                <a:lnTo>
                  <a:pt x="0" y="102870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Tree>
    <p:extLst>
      <p:ext uri="{BB962C8B-B14F-4D97-AF65-F5344CB8AC3E}">
        <p14:creationId xmlns:p14="http://schemas.microsoft.com/office/powerpoint/2010/main" val="1530994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7EF79-882E-BAD0-879C-F7FC083CD99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DBD6C52-E1D4-D713-8E2B-270B36F85961}"/>
              </a:ext>
            </a:extLst>
          </p:cNvPr>
          <p:cNvSpPr/>
          <p:nvPr/>
        </p:nvSpPr>
        <p:spPr>
          <a:xfrm>
            <a:off x="7418447" y="-184455"/>
            <a:ext cx="12966262" cy="10655910"/>
          </a:xfrm>
          <a:custGeom>
            <a:avLst/>
            <a:gdLst/>
            <a:ahLst/>
            <a:cxnLst/>
            <a:rect l="l" t="t" r="r" b="b"/>
            <a:pathLst>
              <a:path w="12966262" h="10655910">
                <a:moveTo>
                  <a:pt x="0" y="0"/>
                </a:moveTo>
                <a:lnTo>
                  <a:pt x="12966262" y="0"/>
                </a:lnTo>
                <a:lnTo>
                  <a:pt x="12966262" y="10655910"/>
                </a:lnTo>
                <a:lnTo>
                  <a:pt x="0" y="106559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5A5649AB-0BF1-0B5A-06D8-996B963966D1}"/>
              </a:ext>
            </a:extLst>
          </p:cNvPr>
          <p:cNvSpPr txBox="1"/>
          <p:nvPr/>
        </p:nvSpPr>
        <p:spPr>
          <a:xfrm>
            <a:off x="1014943" y="2324100"/>
            <a:ext cx="7124700" cy="833562"/>
          </a:xfrm>
          <a:prstGeom prst="rect">
            <a:avLst/>
          </a:prstGeom>
        </p:spPr>
        <p:txBody>
          <a:bodyPr wrap="square" lIns="0" tIns="0" rIns="0" bIns="0" rtlCol="0" anchor="t">
            <a:spAutoFit/>
          </a:bodyPr>
          <a:lstStyle/>
          <a:p>
            <a:pPr algn="l">
              <a:lnSpc>
                <a:spcPts val="6496"/>
              </a:lnSpc>
            </a:pPr>
            <a:r>
              <a:rPr lang="en-US" sz="5600" b="1" dirty="0">
                <a:solidFill>
                  <a:srgbClr val="174143"/>
                </a:solidFill>
                <a:latin typeface="Montserrat Bold"/>
                <a:ea typeface="Montserrat Bold"/>
                <a:cs typeface="Montserrat Bold"/>
                <a:sym typeface="Montserrat Bold"/>
              </a:rPr>
              <a:t>Key Findings</a:t>
            </a:r>
          </a:p>
        </p:txBody>
      </p:sp>
      <p:sp>
        <p:nvSpPr>
          <p:cNvPr id="8" name="TextBox 7">
            <a:extLst>
              <a:ext uri="{FF2B5EF4-FFF2-40B4-BE49-F238E27FC236}">
                <a16:creationId xmlns:a16="http://schemas.microsoft.com/office/drawing/2014/main" id="{E427D6F9-3910-723A-7321-0C0491CA2509}"/>
              </a:ext>
            </a:extLst>
          </p:cNvPr>
          <p:cNvSpPr txBox="1"/>
          <p:nvPr/>
        </p:nvSpPr>
        <p:spPr>
          <a:xfrm>
            <a:off x="6547104" y="4206240"/>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8825F6F9-04C5-0A29-7E14-EB8C16D78EEF}"/>
              </a:ext>
            </a:extLst>
          </p:cNvPr>
          <p:cNvSpPr txBox="1"/>
          <p:nvPr/>
        </p:nvSpPr>
        <p:spPr>
          <a:xfrm>
            <a:off x="1014943" y="3683020"/>
            <a:ext cx="10190480" cy="4524315"/>
          </a:xfrm>
          <a:prstGeom prst="rect">
            <a:avLst/>
          </a:prstGeom>
          <a:noFill/>
        </p:spPr>
        <p:txBody>
          <a:bodyPr wrap="square">
            <a:spAutoFit/>
          </a:bodyPr>
          <a:lstStyle/>
          <a:p>
            <a:r>
              <a:rPr lang="en-US" sz="2400" dirty="0">
                <a:solidFill>
                  <a:srgbClr val="114330"/>
                </a:solidFill>
                <a:latin typeface="Montserrat" pitchFamily="2" charset="77"/>
              </a:rPr>
              <a:t>Exploratory Data Analysis revealed several important patterns:</a:t>
            </a:r>
          </a:p>
          <a:p>
            <a:pPr marL="457200" indent="-457200">
              <a:buFont typeface="Arial" panose="020B0604020202020204" pitchFamily="34" charset="0"/>
              <a:buChar char="•"/>
            </a:pPr>
            <a:r>
              <a:rPr lang="en-US" sz="2400" dirty="0">
                <a:solidFill>
                  <a:srgbClr val="114330"/>
                </a:solidFill>
                <a:latin typeface="Montserrat" pitchFamily="2" charset="77"/>
              </a:rPr>
              <a:t>Approximately 20% of customers churned, indicating a notable churn problem.</a:t>
            </a:r>
          </a:p>
          <a:p>
            <a:pPr marL="457200" indent="-457200">
              <a:buFont typeface="Arial" panose="020B0604020202020204" pitchFamily="34" charset="0"/>
              <a:buChar char="•"/>
            </a:pPr>
            <a:r>
              <a:rPr lang="en-US" sz="2400" dirty="0">
                <a:solidFill>
                  <a:srgbClr val="114330"/>
                </a:solidFill>
                <a:latin typeface="Montserrat" pitchFamily="2" charset="77"/>
              </a:rPr>
              <a:t>Inactive customers are significantly more likely to churn.</a:t>
            </a:r>
          </a:p>
          <a:p>
            <a:pPr marL="457200" indent="-457200">
              <a:buFont typeface="Arial" panose="020B0604020202020204" pitchFamily="34" charset="0"/>
              <a:buChar char="•"/>
            </a:pPr>
            <a:r>
              <a:rPr lang="en-US" sz="2400" dirty="0">
                <a:solidFill>
                  <a:srgbClr val="114330"/>
                </a:solidFill>
                <a:latin typeface="Montserrat" pitchFamily="2" charset="77"/>
              </a:rPr>
              <a:t>Customers with fewer banking products show higher churn rates.</a:t>
            </a:r>
          </a:p>
          <a:p>
            <a:pPr marL="457200" indent="-457200">
              <a:buFont typeface="Arial" panose="020B0604020202020204" pitchFamily="34" charset="0"/>
              <a:buChar char="•"/>
            </a:pPr>
            <a:r>
              <a:rPr lang="en-US" sz="2400" dirty="0">
                <a:solidFill>
                  <a:srgbClr val="114330"/>
                </a:solidFill>
                <a:latin typeface="Montserrat" pitchFamily="2" charset="77"/>
              </a:rPr>
              <a:t>Older customers tend to churn more frequently.</a:t>
            </a:r>
          </a:p>
          <a:p>
            <a:pPr marL="457200" indent="-457200">
              <a:buFont typeface="Arial" panose="020B0604020202020204" pitchFamily="34" charset="0"/>
              <a:buChar char="•"/>
            </a:pPr>
            <a:r>
              <a:rPr lang="en-US" sz="2400" dirty="0">
                <a:solidFill>
                  <a:srgbClr val="114330"/>
                </a:solidFill>
                <a:latin typeface="Montserrat" pitchFamily="2" charset="77"/>
              </a:rPr>
              <a:t>Churn behavior varied across geographic regions.</a:t>
            </a:r>
          </a:p>
          <a:p>
            <a:endParaRPr lang="en-US" sz="2400" dirty="0">
              <a:solidFill>
                <a:srgbClr val="114330"/>
              </a:solidFill>
              <a:latin typeface="Montserrat" pitchFamily="2" charset="77"/>
            </a:endParaRPr>
          </a:p>
          <a:p>
            <a:r>
              <a:rPr lang="en-US" sz="2400" b="1" dirty="0">
                <a:solidFill>
                  <a:srgbClr val="114330"/>
                </a:solidFill>
                <a:latin typeface="Montserrat" pitchFamily="2" charset="77"/>
              </a:rPr>
              <a:t>These findings suggest that customer engagement and product adoption are key drivers of retention.</a:t>
            </a:r>
          </a:p>
          <a:p>
            <a:endParaRPr lang="en-US" sz="2400" dirty="0">
              <a:solidFill>
                <a:srgbClr val="114330"/>
              </a:solidFill>
              <a:latin typeface="Montserrat" pitchFamily="2" charset="77"/>
            </a:endParaRPr>
          </a:p>
        </p:txBody>
      </p:sp>
    </p:spTree>
    <p:extLst>
      <p:ext uri="{BB962C8B-B14F-4D97-AF65-F5344CB8AC3E}">
        <p14:creationId xmlns:p14="http://schemas.microsoft.com/office/powerpoint/2010/main" val="591978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18447" y="-184455"/>
            <a:ext cx="12966262" cy="10655910"/>
          </a:xfrm>
          <a:custGeom>
            <a:avLst/>
            <a:gdLst/>
            <a:ahLst/>
            <a:cxnLst/>
            <a:rect l="l" t="t" r="r" b="b"/>
            <a:pathLst>
              <a:path w="12966262" h="10655910">
                <a:moveTo>
                  <a:pt x="0" y="0"/>
                </a:moveTo>
                <a:lnTo>
                  <a:pt x="12966262" y="0"/>
                </a:lnTo>
                <a:lnTo>
                  <a:pt x="12966262" y="10655910"/>
                </a:lnTo>
                <a:lnTo>
                  <a:pt x="0" y="106559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1028700" y="2901877"/>
            <a:ext cx="7124700" cy="833562"/>
          </a:xfrm>
          <a:prstGeom prst="rect">
            <a:avLst/>
          </a:prstGeom>
        </p:spPr>
        <p:txBody>
          <a:bodyPr wrap="square" lIns="0" tIns="0" rIns="0" bIns="0" rtlCol="0" anchor="t">
            <a:spAutoFit/>
          </a:bodyPr>
          <a:lstStyle/>
          <a:p>
            <a:pPr algn="l">
              <a:lnSpc>
                <a:spcPts val="6496"/>
              </a:lnSpc>
            </a:pPr>
            <a:r>
              <a:rPr lang="en-US" sz="5600" b="1" dirty="0">
                <a:solidFill>
                  <a:srgbClr val="174143"/>
                </a:solidFill>
                <a:latin typeface="Montserrat Bold"/>
                <a:ea typeface="Montserrat Bold"/>
                <a:cs typeface="Montserrat Bold"/>
                <a:sym typeface="Montserrat Bold"/>
              </a:rPr>
              <a:t>Recommendations</a:t>
            </a:r>
          </a:p>
        </p:txBody>
      </p:sp>
      <p:sp>
        <p:nvSpPr>
          <p:cNvPr id="8" name="TextBox 7">
            <a:extLst>
              <a:ext uri="{FF2B5EF4-FFF2-40B4-BE49-F238E27FC236}">
                <a16:creationId xmlns:a16="http://schemas.microsoft.com/office/drawing/2014/main" id="{F388F605-4C19-7B2A-1B36-21D28C2EC7D4}"/>
              </a:ext>
            </a:extLst>
          </p:cNvPr>
          <p:cNvSpPr txBox="1"/>
          <p:nvPr/>
        </p:nvSpPr>
        <p:spPr>
          <a:xfrm>
            <a:off x="6547104" y="4206240"/>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A0B8C4A5-6F52-42CC-E8F1-2C172EFA7590}"/>
              </a:ext>
            </a:extLst>
          </p:cNvPr>
          <p:cNvSpPr txBox="1"/>
          <p:nvPr/>
        </p:nvSpPr>
        <p:spPr>
          <a:xfrm>
            <a:off x="979382" y="4153138"/>
            <a:ext cx="10603018" cy="6740307"/>
          </a:xfrm>
          <a:prstGeom prst="rect">
            <a:avLst/>
          </a:prstGeom>
          <a:noFill/>
        </p:spPr>
        <p:txBody>
          <a:bodyPr wrap="square">
            <a:spAutoFit/>
          </a:bodyPr>
          <a:lstStyle/>
          <a:p>
            <a:endParaRPr lang="en-US" sz="2400" dirty="0">
              <a:solidFill>
                <a:srgbClr val="114330"/>
              </a:solidFill>
              <a:latin typeface="Montserrat" pitchFamily="2" charset="77"/>
            </a:endParaRPr>
          </a:p>
          <a:p>
            <a:r>
              <a:rPr lang="en-US" sz="2400" b="1" dirty="0">
                <a:solidFill>
                  <a:srgbClr val="114330"/>
                </a:solidFill>
                <a:latin typeface="Montserrat" pitchFamily="2" charset="77"/>
              </a:rPr>
              <a:t>Improve customer engagement</a:t>
            </a:r>
          </a:p>
          <a:p>
            <a:r>
              <a:rPr lang="en-US" sz="2400" dirty="0">
                <a:solidFill>
                  <a:srgbClr val="114330"/>
                </a:solidFill>
                <a:latin typeface="Montserrat" pitchFamily="2" charset="77"/>
              </a:rPr>
              <a:t>Encourage active use of banking services</a:t>
            </a:r>
          </a:p>
          <a:p>
            <a:endParaRPr lang="en-US" sz="2400" dirty="0">
              <a:solidFill>
                <a:srgbClr val="114330"/>
              </a:solidFill>
              <a:latin typeface="Montserrat" pitchFamily="2" charset="77"/>
            </a:endParaRPr>
          </a:p>
          <a:p>
            <a:r>
              <a:rPr lang="en-US" sz="2400" b="1" dirty="0">
                <a:solidFill>
                  <a:srgbClr val="114330"/>
                </a:solidFill>
                <a:latin typeface="Montserrat" pitchFamily="2" charset="77"/>
              </a:rPr>
              <a:t>Promote cross-selling strategies</a:t>
            </a:r>
          </a:p>
          <a:p>
            <a:r>
              <a:rPr lang="en-US" sz="2400" dirty="0">
                <a:solidFill>
                  <a:srgbClr val="114330"/>
                </a:solidFill>
                <a:latin typeface="Montserrat" pitchFamily="2" charset="77"/>
              </a:rPr>
              <a:t>Customers with multiple products show lower churn rates</a:t>
            </a:r>
          </a:p>
          <a:p>
            <a:endParaRPr lang="en-US" sz="2400" dirty="0">
              <a:solidFill>
                <a:srgbClr val="114330"/>
              </a:solidFill>
              <a:latin typeface="Montserrat" pitchFamily="2" charset="77"/>
            </a:endParaRPr>
          </a:p>
          <a:p>
            <a:r>
              <a:rPr lang="en-US" sz="2400" b="1" dirty="0">
                <a:solidFill>
                  <a:srgbClr val="114330"/>
                </a:solidFill>
                <a:latin typeface="Montserrat" pitchFamily="2" charset="77"/>
              </a:rPr>
              <a:t>Target high-risk customers</a:t>
            </a:r>
          </a:p>
          <a:p>
            <a:r>
              <a:rPr lang="en-US" sz="2400" dirty="0">
                <a:solidFill>
                  <a:srgbClr val="114330"/>
                </a:solidFill>
                <a:latin typeface="Montserrat" pitchFamily="2" charset="77"/>
              </a:rPr>
              <a:t>Use churn predictions to identify customers likely to leave</a:t>
            </a:r>
            <a:br>
              <a:rPr lang="en-US" sz="2400" dirty="0">
                <a:solidFill>
                  <a:srgbClr val="114330"/>
                </a:solidFill>
                <a:latin typeface="Montserrat" pitchFamily="2" charset="77"/>
              </a:rPr>
            </a:br>
            <a:endParaRPr lang="en-US" sz="2400" dirty="0">
              <a:solidFill>
                <a:srgbClr val="114330"/>
              </a:solidFill>
              <a:latin typeface="Montserrat" pitchFamily="2" charset="77"/>
            </a:endParaRPr>
          </a:p>
          <a:p>
            <a:r>
              <a:rPr lang="en-US" sz="2400" b="1" dirty="0">
                <a:solidFill>
                  <a:srgbClr val="114330"/>
                </a:solidFill>
                <a:latin typeface="Montserrat" pitchFamily="2" charset="77"/>
              </a:rPr>
              <a:t>Personalized retention campaigns</a:t>
            </a:r>
          </a:p>
          <a:p>
            <a:r>
              <a:rPr lang="en-US" sz="2400" dirty="0">
                <a:solidFill>
                  <a:srgbClr val="114330"/>
                </a:solidFill>
                <a:latin typeface="Montserrat" pitchFamily="2" charset="77"/>
              </a:rPr>
              <a:t>Offer incentives, financial advice, or tailored services to at-risk customers</a:t>
            </a:r>
          </a:p>
          <a:p>
            <a:endParaRPr lang="en-US" sz="2400" dirty="0">
              <a:solidFill>
                <a:srgbClr val="114330"/>
              </a:solidFill>
              <a:latin typeface="Montserrat" pitchFamily="2" charset="77"/>
            </a:endParaRPr>
          </a:p>
          <a:p>
            <a:r>
              <a:rPr lang="en-US" sz="2400" b="1" dirty="0">
                <a:solidFill>
                  <a:srgbClr val="114330"/>
                </a:solidFill>
                <a:latin typeface="Montserrat" pitchFamily="2" charset="77"/>
              </a:rPr>
              <a:t>Use region-specific strategies</a:t>
            </a:r>
          </a:p>
          <a:p>
            <a:r>
              <a:rPr lang="en-US" sz="2400" dirty="0">
                <a:solidFill>
                  <a:srgbClr val="114330"/>
                </a:solidFill>
                <a:latin typeface="Montserrat" pitchFamily="2" charset="77"/>
              </a:rPr>
              <a:t>Tailor retention campaigns to geographic differences.</a:t>
            </a:r>
          </a:p>
          <a:p>
            <a:br>
              <a:rPr lang="en-US" sz="2400" dirty="0">
                <a:solidFill>
                  <a:srgbClr val="114330"/>
                </a:solidFill>
                <a:latin typeface="Montserrat" pitchFamily="2" charset="77"/>
              </a:rPr>
            </a:br>
            <a:endParaRPr lang="en-US" sz="2400" dirty="0">
              <a:solidFill>
                <a:srgbClr val="114330"/>
              </a:solidFill>
              <a:latin typeface="Montserrat" pitchFamily="2" charset="77"/>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64142"/>
        </a:solidFill>
        <a:effectLst/>
      </p:bgPr>
    </p:bg>
    <p:spTree>
      <p:nvGrpSpPr>
        <p:cNvPr id="1" name="">
          <a:extLst>
            <a:ext uri="{FF2B5EF4-FFF2-40B4-BE49-F238E27FC236}">
              <a16:creationId xmlns:a16="http://schemas.microsoft.com/office/drawing/2014/main" id="{D156438E-35BE-85E5-F178-499BAEE418F4}"/>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7339186D-D728-276E-E8BD-75803C01C9D7}"/>
              </a:ext>
            </a:extLst>
          </p:cNvPr>
          <p:cNvSpPr txBox="1"/>
          <p:nvPr/>
        </p:nvSpPr>
        <p:spPr>
          <a:xfrm>
            <a:off x="1028700" y="2496859"/>
            <a:ext cx="8293267" cy="953135"/>
          </a:xfrm>
          <a:prstGeom prst="rect">
            <a:avLst/>
          </a:prstGeom>
        </p:spPr>
        <p:txBody>
          <a:bodyPr lIns="0" tIns="0" rIns="0" bIns="0" rtlCol="0" anchor="t">
            <a:spAutoFit/>
          </a:bodyPr>
          <a:lstStyle/>
          <a:p>
            <a:pPr algn="l">
              <a:lnSpc>
                <a:spcPts val="7840"/>
              </a:lnSpc>
              <a:spcBef>
                <a:spcPct val="0"/>
              </a:spcBef>
            </a:pPr>
            <a:r>
              <a:rPr lang="en-US" sz="5600" b="1" dirty="0">
                <a:solidFill>
                  <a:schemeClr val="bg1"/>
                </a:solidFill>
                <a:latin typeface="Montserrat Bold"/>
                <a:ea typeface="Montserrat Bold"/>
                <a:cs typeface="Montserrat Bold"/>
                <a:sym typeface="Montserrat Bold"/>
              </a:rPr>
              <a:t>Timeline</a:t>
            </a:r>
          </a:p>
        </p:txBody>
      </p:sp>
      <p:graphicFrame>
        <p:nvGraphicFramePr>
          <p:cNvPr id="6" name="Diagram 5">
            <a:extLst>
              <a:ext uri="{FF2B5EF4-FFF2-40B4-BE49-F238E27FC236}">
                <a16:creationId xmlns:a16="http://schemas.microsoft.com/office/drawing/2014/main" id="{164F7A6F-862A-D0E2-0729-3CF616E25314}"/>
              </a:ext>
            </a:extLst>
          </p:cNvPr>
          <p:cNvGraphicFramePr/>
          <p:nvPr>
            <p:extLst>
              <p:ext uri="{D42A27DB-BD31-4B8C-83A1-F6EECF244321}">
                <p14:modId xmlns:p14="http://schemas.microsoft.com/office/powerpoint/2010/main" val="3160688581"/>
              </p:ext>
            </p:extLst>
          </p:nvPr>
        </p:nvGraphicFramePr>
        <p:xfrm>
          <a:off x="762000" y="1409700"/>
          <a:ext cx="16992600" cy="9601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3195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9BD87-A1D5-18A5-8653-3BC00B669FB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A6EB6D0-B2DE-EE7F-3208-6C45AC6FBAAA}"/>
              </a:ext>
            </a:extLst>
          </p:cNvPr>
          <p:cNvSpPr/>
          <p:nvPr/>
        </p:nvSpPr>
        <p:spPr>
          <a:xfrm>
            <a:off x="7418447" y="-184455"/>
            <a:ext cx="12966262" cy="10655910"/>
          </a:xfrm>
          <a:custGeom>
            <a:avLst/>
            <a:gdLst/>
            <a:ahLst/>
            <a:cxnLst/>
            <a:rect l="l" t="t" r="r" b="b"/>
            <a:pathLst>
              <a:path w="12966262" h="10655910">
                <a:moveTo>
                  <a:pt x="0" y="0"/>
                </a:moveTo>
                <a:lnTo>
                  <a:pt x="12966262" y="0"/>
                </a:lnTo>
                <a:lnTo>
                  <a:pt x="12966262" y="10655910"/>
                </a:lnTo>
                <a:lnTo>
                  <a:pt x="0" y="106559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46854735-389B-5534-737B-026668D290DB}"/>
              </a:ext>
            </a:extLst>
          </p:cNvPr>
          <p:cNvSpPr txBox="1"/>
          <p:nvPr/>
        </p:nvSpPr>
        <p:spPr>
          <a:xfrm>
            <a:off x="1028700" y="2901877"/>
            <a:ext cx="7124700" cy="833562"/>
          </a:xfrm>
          <a:prstGeom prst="rect">
            <a:avLst/>
          </a:prstGeom>
        </p:spPr>
        <p:txBody>
          <a:bodyPr wrap="square" lIns="0" tIns="0" rIns="0" bIns="0" rtlCol="0" anchor="t">
            <a:spAutoFit/>
          </a:bodyPr>
          <a:lstStyle/>
          <a:p>
            <a:pPr algn="l">
              <a:lnSpc>
                <a:spcPts val="6496"/>
              </a:lnSpc>
            </a:pPr>
            <a:r>
              <a:rPr lang="en-US" sz="5600" b="1" dirty="0">
                <a:solidFill>
                  <a:srgbClr val="174143"/>
                </a:solidFill>
                <a:latin typeface="Montserrat Bold"/>
                <a:ea typeface="Montserrat Bold"/>
                <a:cs typeface="Montserrat Bold"/>
                <a:sym typeface="Montserrat Bold"/>
              </a:rPr>
              <a:t>Next Steps</a:t>
            </a:r>
          </a:p>
        </p:txBody>
      </p:sp>
      <p:sp>
        <p:nvSpPr>
          <p:cNvPr id="8" name="TextBox 7">
            <a:extLst>
              <a:ext uri="{FF2B5EF4-FFF2-40B4-BE49-F238E27FC236}">
                <a16:creationId xmlns:a16="http://schemas.microsoft.com/office/drawing/2014/main" id="{4938ED80-6556-B7A8-E2B2-7DBFB2830F62}"/>
              </a:ext>
            </a:extLst>
          </p:cNvPr>
          <p:cNvSpPr txBox="1"/>
          <p:nvPr/>
        </p:nvSpPr>
        <p:spPr>
          <a:xfrm>
            <a:off x="6547104" y="4206240"/>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8815031A-2B1F-82D7-C083-C9B027C49F46}"/>
              </a:ext>
            </a:extLst>
          </p:cNvPr>
          <p:cNvSpPr txBox="1"/>
          <p:nvPr/>
        </p:nvSpPr>
        <p:spPr>
          <a:xfrm>
            <a:off x="979383" y="4153138"/>
            <a:ext cx="10190480" cy="4154984"/>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114330"/>
                </a:solidFill>
                <a:latin typeface="Montserrat" pitchFamily="2" charset="77"/>
              </a:rPr>
              <a:t>Hyperparameter tuning to further improve model performance</a:t>
            </a:r>
          </a:p>
          <a:p>
            <a:pPr marL="342900" indent="-342900">
              <a:buFont typeface="Arial" panose="020B0604020202020204" pitchFamily="34" charset="0"/>
              <a:buChar char="•"/>
            </a:pPr>
            <a:r>
              <a:rPr lang="en-US" sz="2400" dirty="0">
                <a:solidFill>
                  <a:srgbClr val="114330"/>
                </a:solidFill>
                <a:latin typeface="Montserrat" pitchFamily="2" charset="77"/>
              </a:rPr>
              <a:t>Testing additional models such as Support Vector Machines or Neural Networks such as ANN</a:t>
            </a:r>
          </a:p>
          <a:p>
            <a:pPr marL="342900" indent="-342900">
              <a:buFont typeface="Arial" panose="020B0604020202020204" pitchFamily="34" charset="0"/>
              <a:buChar char="•"/>
            </a:pPr>
            <a:r>
              <a:rPr lang="en-US" sz="2400" dirty="0">
                <a:solidFill>
                  <a:srgbClr val="114330"/>
                </a:solidFill>
                <a:latin typeface="Montserrat" pitchFamily="2" charset="77"/>
              </a:rPr>
              <a:t>Feature engineering to capture more complex customer behavior</a:t>
            </a:r>
          </a:p>
          <a:p>
            <a:pPr marL="342900" indent="-342900">
              <a:buFont typeface="Arial" panose="020B0604020202020204" pitchFamily="34" charset="0"/>
              <a:buChar char="•"/>
            </a:pPr>
            <a:r>
              <a:rPr lang="en-US" sz="2400" dirty="0">
                <a:solidFill>
                  <a:srgbClr val="114330"/>
                </a:solidFill>
                <a:latin typeface="Montserrat" pitchFamily="2" charset="77"/>
              </a:rPr>
              <a:t>Make a </a:t>
            </a:r>
            <a:r>
              <a:rPr lang="en-US" sz="2400" dirty="0" err="1">
                <a:solidFill>
                  <a:srgbClr val="114330"/>
                </a:solidFill>
                <a:latin typeface="Montserrat" pitchFamily="2" charset="77"/>
              </a:rPr>
              <a:t>streamlit</a:t>
            </a:r>
            <a:r>
              <a:rPr lang="en-US" sz="2400" dirty="0">
                <a:solidFill>
                  <a:srgbClr val="114330"/>
                </a:solidFill>
                <a:latin typeface="Montserrat" pitchFamily="2" charset="77"/>
              </a:rPr>
              <a:t> app for visualization and prediction</a:t>
            </a:r>
          </a:p>
          <a:p>
            <a:pPr marL="342900" indent="-342900">
              <a:buFont typeface="Arial" panose="020B0604020202020204" pitchFamily="34" charset="0"/>
              <a:buChar char="•"/>
            </a:pPr>
            <a:r>
              <a:rPr lang="en-US" sz="2400" dirty="0">
                <a:solidFill>
                  <a:srgbClr val="114330"/>
                </a:solidFill>
                <a:latin typeface="Montserrat" pitchFamily="2" charset="77"/>
              </a:rPr>
              <a:t>Model deployment as an API for real-time churn prediction</a:t>
            </a:r>
          </a:p>
          <a:p>
            <a:endParaRPr lang="en-US" sz="2400" dirty="0">
              <a:solidFill>
                <a:srgbClr val="114330"/>
              </a:solidFill>
              <a:latin typeface="Montserrat" pitchFamily="2" charset="77"/>
            </a:endParaRPr>
          </a:p>
          <a:p>
            <a:endParaRPr lang="en-US" sz="2400" dirty="0">
              <a:solidFill>
                <a:srgbClr val="114330"/>
              </a:solidFill>
              <a:latin typeface="Montserrat" pitchFamily="2" charset="77"/>
            </a:endParaRPr>
          </a:p>
          <a:p>
            <a:endParaRPr lang="en-US" sz="2400" dirty="0">
              <a:solidFill>
                <a:srgbClr val="114330"/>
              </a:solidFill>
              <a:latin typeface="Montserrat" pitchFamily="2" charset="77"/>
            </a:endParaRPr>
          </a:p>
        </p:txBody>
      </p:sp>
    </p:spTree>
    <p:extLst>
      <p:ext uri="{BB962C8B-B14F-4D97-AF65-F5344CB8AC3E}">
        <p14:creationId xmlns:p14="http://schemas.microsoft.com/office/powerpoint/2010/main" val="4067759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7A3B9-C69C-B441-9CDA-B06E0968229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5538184-32E5-F8EC-A38A-8930D00FB1D8}"/>
              </a:ext>
            </a:extLst>
          </p:cNvPr>
          <p:cNvSpPr/>
          <p:nvPr/>
        </p:nvSpPr>
        <p:spPr>
          <a:xfrm>
            <a:off x="7418447" y="-184455"/>
            <a:ext cx="12966262" cy="10655910"/>
          </a:xfrm>
          <a:custGeom>
            <a:avLst/>
            <a:gdLst/>
            <a:ahLst/>
            <a:cxnLst/>
            <a:rect l="l" t="t" r="r" b="b"/>
            <a:pathLst>
              <a:path w="12966262" h="10655910">
                <a:moveTo>
                  <a:pt x="0" y="0"/>
                </a:moveTo>
                <a:lnTo>
                  <a:pt x="12966262" y="0"/>
                </a:lnTo>
                <a:lnTo>
                  <a:pt x="12966262" y="10655910"/>
                </a:lnTo>
                <a:lnTo>
                  <a:pt x="0" y="106559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a:extLst>
              <a:ext uri="{FF2B5EF4-FFF2-40B4-BE49-F238E27FC236}">
                <a16:creationId xmlns:a16="http://schemas.microsoft.com/office/drawing/2014/main" id="{435F6BBC-EADB-58CB-8BBC-E13866BE2830}"/>
              </a:ext>
            </a:extLst>
          </p:cNvPr>
          <p:cNvSpPr txBox="1"/>
          <p:nvPr/>
        </p:nvSpPr>
        <p:spPr>
          <a:xfrm>
            <a:off x="1028700" y="2901877"/>
            <a:ext cx="7124700" cy="833562"/>
          </a:xfrm>
          <a:prstGeom prst="rect">
            <a:avLst/>
          </a:prstGeom>
        </p:spPr>
        <p:txBody>
          <a:bodyPr wrap="square" lIns="0" tIns="0" rIns="0" bIns="0" rtlCol="0" anchor="t">
            <a:spAutoFit/>
          </a:bodyPr>
          <a:lstStyle/>
          <a:p>
            <a:pPr algn="l">
              <a:lnSpc>
                <a:spcPts val="6496"/>
              </a:lnSpc>
            </a:pPr>
            <a:r>
              <a:rPr lang="en-US" sz="5600" b="1" dirty="0">
                <a:solidFill>
                  <a:srgbClr val="174143"/>
                </a:solidFill>
                <a:latin typeface="Montserrat Bold"/>
                <a:ea typeface="Montserrat Bold"/>
                <a:cs typeface="Montserrat Bold"/>
                <a:sym typeface="Montserrat Bold"/>
              </a:rPr>
              <a:t>Next Steps</a:t>
            </a:r>
          </a:p>
        </p:txBody>
      </p:sp>
      <p:sp>
        <p:nvSpPr>
          <p:cNvPr id="8" name="TextBox 7">
            <a:extLst>
              <a:ext uri="{FF2B5EF4-FFF2-40B4-BE49-F238E27FC236}">
                <a16:creationId xmlns:a16="http://schemas.microsoft.com/office/drawing/2014/main" id="{325FF90B-AAF6-4F5F-FD06-928A58777375}"/>
              </a:ext>
            </a:extLst>
          </p:cNvPr>
          <p:cNvSpPr txBox="1"/>
          <p:nvPr/>
        </p:nvSpPr>
        <p:spPr>
          <a:xfrm>
            <a:off x="6547104" y="4206240"/>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AECDF77C-1543-9494-333F-EB459D5B600B}"/>
              </a:ext>
            </a:extLst>
          </p:cNvPr>
          <p:cNvSpPr txBox="1"/>
          <p:nvPr/>
        </p:nvSpPr>
        <p:spPr>
          <a:xfrm>
            <a:off x="979383" y="4153138"/>
            <a:ext cx="10190480" cy="4524315"/>
          </a:xfrm>
          <a:prstGeom prst="rect">
            <a:avLst/>
          </a:prstGeom>
          <a:noFill/>
        </p:spPr>
        <p:txBody>
          <a:bodyPr wrap="square">
            <a:spAutoFit/>
          </a:bodyPr>
          <a:lstStyle/>
          <a:p>
            <a:r>
              <a:rPr lang="en-US" sz="2400" b="1" dirty="0">
                <a:solidFill>
                  <a:srgbClr val="114330"/>
                </a:solidFill>
                <a:latin typeface="Montserrat" pitchFamily="2" charset="77"/>
              </a:rPr>
              <a:t>Deploy the churn prediction model </a:t>
            </a:r>
          </a:p>
          <a:p>
            <a:r>
              <a:rPr lang="en-US" sz="2400" dirty="0">
                <a:solidFill>
                  <a:srgbClr val="114330"/>
                </a:solidFill>
                <a:latin typeface="Montserrat" pitchFamily="2" charset="77"/>
              </a:rPr>
              <a:t>Integrate the model into banking systems to monitor customer churn risk in real time</a:t>
            </a:r>
          </a:p>
          <a:p>
            <a:endParaRPr lang="en-US" sz="2400" b="1" dirty="0">
              <a:solidFill>
                <a:srgbClr val="114330"/>
              </a:solidFill>
              <a:latin typeface="Montserrat" pitchFamily="2" charset="77"/>
            </a:endParaRPr>
          </a:p>
          <a:p>
            <a:endParaRPr lang="en-US" sz="2400" b="1" dirty="0">
              <a:solidFill>
                <a:srgbClr val="114330"/>
              </a:solidFill>
              <a:latin typeface="Montserrat" pitchFamily="2" charset="77"/>
            </a:endParaRPr>
          </a:p>
          <a:p>
            <a:r>
              <a:rPr lang="en-US" sz="2400" b="1" dirty="0">
                <a:solidFill>
                  <a:srgbClr val="114330"/>
                </a:solidFill>
                <a:latin typeface="Montserrat" pitchFamily="2" charset="77"/>
              </a:rPr>
              <a:t>Build an AI recommendation system</a:t>
            </a:r>
          </a:p>
          <a:p>
            <a:r>
              <a:rPr lang="en-US" sz="2400" dirty="0">
                <a:solidFill>
                  <a:srgbClr val="114330"/>
                </a:solidFill>
                <a:latin typeface="Montserrat" pitchFamily="2" charset="77"/>
              </a:rPr>
              <a:t>Automatically suggest retention actions for high-risk customers</a:t>
            </a:r>
          </a:p>
          <a:p>
            <a:endParaRPr lang="en-US" sz="2400" dirty="0">
              <a:solidFill>
                <a:srgbClr val="114330"/>
              </a:solidFill>
              <a:latin typeface="Montserrat" pitchFamily="2" charset="77"/>
            </a:endParaRPr>
          </a:p>
          <a:p>
            <a:r>
              <a:rPr lang="en-US" sz="2400" dirty="0">
                <a:solidFill>
                  <a:srgbClr val="114330"/>
                </a:solidFill>
                <a:latin typeface="Montserrat" pitchFamily="2" charset="77"/>
              </a:rPr>
              <a:t>Examples:</a:t>
            </a:r>
          </a:p>
          <a:p>
            <a:pPr marL="342900" indent="-342900">
              <a:buFont typeface="Arial" panose="020B0604020202020204" pitchFamily="34" charset="0"/>
              <a:buChar char="•"/>
            </a:pPr>
            <a:r>
              <a:rPr lang="en-US" sz="2400" dirty="0">
                <a:solidFill>
                  <a:srgbClr val="114330"/>
                </a:solidFill>
                <a:latin typeface="Montserrat" pitchFamily="2" charset="77"/>
              </a:rPr>
              <a:t>personalized financial offers</a:t>
            </a:r>
          </a:p>
          <a:p>
            <a:pPr marL="342900" indent="-342900">
              <a:buFont typeface="Arial" panose="020B0604020202020204" pitchFamily="34" charset="0"/>
              <a:buChar char="•"/>
            </a:pPr>
            <a:r>
              <a:rPr lang="en-US" sz="2400" dirty="0">
                <a:solidFill>
                  <a:srgbClr val="114330"/>
                </a:solidFill>
                <a:latin typeface="Montserrat" pitchFamily="2" charset="77"/>
              </a:rPr>
              <a:t>loyalty rewards</a:t>
            </a:r>
          </a:p>
          <a:p>
            <a:pPr marL="342900" indent="-342900">
              <a:buFont typeface="Arial" panose="020B0604020202020204" pitchFamily="34" charset="0"/>
              <a:buChar char="•"/>
            </a:pPr>
            <a:r>
              <a:rPr lang="en-US" sz="2400" dirty="0">
                <a:solidFill>
                  <a:srgbClr val="114330"/>
                </a:solidFill>
                <a:latin typeface="Montserrat" pitchFamily="2" charset="77"/>
              </a:rPr>
              <a:t>targeted marketing campaigns</a:t>
            </a:r>
          </a:p>
        </p:txBody>
      </p:sp>
    </p:spTree>
    <p:extLst>
      <p:ext uri="{BB962C8B-B14F-4D97-AF65-F5344CB8AC3E}">
        <p14:creationId xmlns:p14="http://schemas.microsoft.com/office/powerpoint/2010/main" val="3157948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74143"/>
        </a:solidFill>
        <a:effectLst/>
      </p:bgPr>
    </p:bg>
    <p:spTree>
      <p:nvGrpSpPr>
        <p:cNvPr id="1" name=""/>
        <p:cNvGrpSpPr/>
        <p:nvPr/>
      </p:nvGrpSpPr>
      <p:grpSpPr>
        <a:xfrm>
          <a:off x="0" y="0"/>
          <a:ext cx="0" cy="0"/>
          <a:chOff x="0" y="0"/>
          <a:chExt cx="0" cy="0"/>
        </a:xfrm>
      </p:grpSpPr>
      <p:sp>
        <p:nvSpPr>
          <p:cNvPr id="2" name="Freeform 2"/>
          <p:cNvSpPr/>
          <p:nvPr/>
        </p:nvSpPr>
        <p:spPr>
          <a:xfrm flipV="1">
            <a:off x="-2489530" y="-777856"/>
            <a:ext cx="8389173" cy="11064856"/>
          </a:xfrm>
          <a:custGeom>
            <a:avLst/>
            <a:gdLst/>
            <a:ahLst/>
            <a:cxnLst/>
            <a:rect l="l" t="t" r="r" b="b"/>
            <a:pathLst>
              <a:path w="8389173" h="11064856">
                <a:moveTo>
                  <a:pt x="0" y="11064856"/>
                </a:moveTo>
                <a:lnTo>
                  <a:pt x="8389173" y="11064856"/>
                </a:lnTo>
                <a:lnTo>
                  <a:pt x="8389173" y="0"/>
                </a:lnTo>
                <a:lnTo>
                  <a:pt x="0" y="0"/>
                </a:lnTo>
                <a:lnTo>
                  <a:pt x="0" y="11064856"/>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2388356" y="-777856"/>
            <a:ext cx="8389173" cy="11064856"/>
          </a:xfrm>
          <a:custGeom>
            <a:avLst/>
            <a:gdLst/>
            <a:ahLst/>
            <a:cxnLst/>
            <a:rect l="l" t="t" r="r" b="b"/>
            <a:pathLst>
              <a:path w="8389173" h="11064856">
                <a:moveTo>
                  <a:pt x="0" y="0"/>
                </a:moveTo>
                <a:lnTo>
                  <a:pt x="8389173" y="0"/>
                </a:lnTo>
                <a:lnTo>
                  <a:pt x="8389173" y="11064856"/>
                </a:lnTo>
                <a:lnTo>
                  <a:pt x="0" y="110648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3787284" y="2741898"/>
            <a:ext cx="10713431" cy="2538568"/>
          </a:xfrm>
          <a:prstGeom prst="rect">
            <a:avLst/>
          </a:prstGeom>
        </p:spPr>
        <p:txBody>
          <a:bodyPr lIns="0" tIns="0" rIns="0" bIns="0" rtlCol="0" anchor="t">
            <a:spAutoFit/>
          </a:bodyPr>
          <a:lstStyle/>
          <a:p>
            <a:pPr algn="ctr">
              <a:lnSpc>
                <a:spcPts val="20795"/>
              </a:lnSpc>
              <a:spcBef>
                <a:spcPct val="0"/>
              </a:spcBef>
            </a:pPr>
            <a:r>
              <a:rPr lang="en-US" sz="14853" b="1">
                <a:solidFill>
                  <a:srgbClr val="F5E5E1"/>
                </a:solidFill>
                <a:latin typeface="Montserrat Bold"/>
                <a:ea typeface="Montserrat Bold"/>
                <a:cs typeface="Montserrat Bold"/>
                <a:sym typeface="Montserrat Bold"/>
              </a:rPr>
              <a:t>THANK</a:t>
            </a:r>
          </a:p>
        </p:txBody>
      </p:sp>
      <p:sp>
        <p:nvSpPr>
          <p:cNvPr id="6" name="TextBox 6"/>
          <p:cNvSpPr txBox="1"/>
          <p:nvPr/>
        </p:nvSpPr>
        <p:spPr>
          <a:xfrm>
            <a:off x="3787284" y="4735413"/>
            <a:ext cx="10713431" cy="2538568"/>
          </a:xfrm>
          <a:prstGeom prst="rect">
            <a:avLst/>
          </a:prstGeom>
        </p:spPr>
        <p:txBody>
          <a:bodyPr lIns="0" tIns="0" rIns="0" bIns="0" rtlCol="0" anchor="t">
            <a:spAutoFit/>
          </a:bodyPr>
          <a:lstStyle/>
          <a:p>
            <a:pPr algn="ctr">
              <a:lnSpc>
                <a:spcPts val="20795"/>
              </a:lnSpc>
              <a:spcBef>
                <a:spcPct val="0"/>
              </a:spcBef>
            </a:pPr>
            <a:r>
              <a:rPr lang="en-US" sz="14853" b="1">
                <a:solidFill>
                  <a:srgbClr val="F5E5E1"/>
                </a:solidFill>
                <a:latin typeface="Montserrat Bold"/>
                <a:ea typeface="Montserrat Bold"/>
                <a:cs typeface="Montserrat Bold"/>
                <a:sym typeface="Montserrat Bold"/>
              </a:rPr>
              <a:t>YOU</a:t>
            </a:r>
          </a:p>
        </p:txBody>
      </p:sp>
      <p:sp>
        <p:nvSpPr>
          <p:cNvPr id="8" name="TextBox 8"/>
          <p:cNvSpPr txBox="1"/>
          <p:nvPr/>
        </p:nvSpPr>
        <p:spPr>
          <a:xfrm>
            <a:off x="12349536" y="981075"/>
            <a:ext cx="4909764" cy="389255"/>
          </a:xfrm>
          <a:prstGeom prst="rect">
            <a:avLst/>
          </a:prstGeom>
        </p:spPr>
        <p:txBody>
          <a:bodyPr lIns="0" tIns="0" rIns="0" bIns="0" rtlCol="0" anchor="t">
            <a:spAutoFit/>
          </a:bodyPr>
          <a:lstStyle/>
          <a:p>
            <a:pPr algn="r">
              <a:lnSpc>
                <a:spcPts val="3220"/>
              </a:lnSpc>
              <a:spcBef>
                <a:spcPct val="0"/>
              </a:spcBef>
            </a:pPr>
            <a:r>
              <a:rPr lang="en-US" sz="2300">
                <a:solidFill>
                  <a:srgbClr val="F5E5E1"/>
                </a:solidFill>
                <a:latin typeface="Montserrat"/>
                <a:ea typeface="Montserrat"/>
                <a:cs typeface="Montserrat"/>
                <a:sym typeface="Montserrat"/>
              </a:rPr>
              <a:t>Presented By :</a:t>
            </a:r>
          </a:p>
        </p:txBody>
      </p:sp>
      <p:sp>
        <p:nvSpPr>
          <p:cNvPr id="9" name="TextBox 9"/>
          <p:cNvSpPr txBox="1"/>
          <p:nvPr/>
        </p:nvSpPr>
        <p:spPr>
          <a:xfrm>
            <a:off x="12349536" y="1472345"/>
            <a:ext cx="4909764" cy="451021"/>
          </a:xfrm>
          <a:prstGeom prst="rect">
            <a:avLst/>
          </a:prstGeom>
        </p:spPr>
        <p:txBody>
          <a:bodyPr lIns="0" tIns="0" rIns="0" bIns="0" rtlCol="0" anchor="t">
            <a:spAutoFit/>
          </a:bodyPr>
          <a:lstStyle/>
          <a:p>
            <a:pPr algn="r">
              <a:lnSpc>
                <a:spcPts val="3779"/>
              </a:lnSpc>
              <a:spcBef>
                <a:spcPct val="0"/>
              </a:spcBef>
            </a:pPr>
            <a:r>
              <a:rPr lang="en-US" sz="2699" b="1" dirty="0">
                <a:solidFill>
                  <a:srgbClr val="F5E5E1"/>
                </a:solidFill>
                <a:latin typeface="Montserrat Semi-Bold"/>
                <a:ea typeface="Montserrat Semi-Bold"/>
                <a:cs typeface="Montserrat Semi-Bold"/>
                <a:sym typeface="Montserrat Semi-Bold"/>
              </a:rPr>
              <a:t>Timothy Ajayi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64142"/>
        </a:solidFill>
        <a:effectLst/>
      </p:bgPr>
    </p:bg>
    <p:spTree>
      <p:nvGrpSpPr>
        <p:cNvPr id="1" name=""/>
        <p:cNvGrpSpPr/>
        <p:nvPr/>
      </p:nvGrpSpPr>
      <p:grpSpPr>
        <a:xfrm>
          <a:off x="0" y="0"/>
          <a:ext cx="0" cy="0"/>
          <a:chOff x="0" y="0"/>
          <a:chExt cx="0" cy="0"/>
        </a:xfrm>
      </p:grpSpPr>
      <p:sp>
        <p:nvSpPr>
          <p:cNvPr id="3" name="TextBox 3"/>
          <p:cNvSpPr txBox="1"/>
          <p:nvPr/>
        </p:nvSpPr>
        <p:spPr>
          <a:xfrm>
            <a:off x="3581808" y="4539431"/>
            <a:ext cx="11124383" cy="1923604"/>
          </a:xfrm>
          <a:prstGeom prst="rect">
            <a:avLst/>
          </a:prstGeom>
        </p:spPr>
        <p:txBody>
          <a:bodyPr lIns="0" tIns="0" rIns="0" bIns="0" rtlCol="0" anchor="t">
            <a:spAutoFit/>
          </a:bodyPr>
          <a:lstStyle/>
          <a:p>
            <a:r>
              <a:rPr lang="en-US" sz="2500" b="1" dirty="0">
                <a:solidFill>
                  <a:srgbClr val="F5E5E1"/>
                </a:solidFill>
                <a:latin typeface="Montserrat" pitchFamily="2" charset="77"/>
              </a:rPr>
              <a:t>In summary, Kickstarter success depends heavily on category, timing, and setting a reasonable goal.</a:t>
            </a:r>
          </a:p>
          <a:p>
            <a:endParaRPr lang="en-US" sz="2500" b="1" dirty="0">
              <a:solidFill>
                <a:srgbClr val="F5E5E1"/>
              </a:solidFill>
              <a:latin typeface="Montserrat" pitchFamily="2" charset="77"/>
            </a:endParaRPr>
          </a:p>
          <a:p>
            <a:r>
              <a:rPr lang="en-US" sz="2500" b="1" dirty="0">
                <a:solidFill>
                  <a:srgbClr val="F5E5E1"/>
                </a:solidFill>
                <a:latin typeface="Montserrat" pitchFamily="2" charset="77"/>
              </a:rPr>
              <a:t>These insights help creators launch more strategic projects and increase their chances of success.”</a:t>
            </a:r>
          </a:p>
        </p:txBody>
      </p:sp>
      <p:sp>
        <p:nvSpPr>
          <p:cNvPr id="4" name="Freeform 4"/>
          <p:cNvSpPr/>
          <p:nvPr/>
        </p:nvSpPr>
        <p:spPr>
          <a:xfrm rot="405012">
            <a:off x="-4924453" y="4228012"/>
            <a:ext cx="8479022" cy="8479022"/>
          </a:xfrm>
          <a:custGeom>
            <a:avLst/>
            <a:gdLst/>
            <a:ahLst/>
            <a:cxnLst/>
            <a:rect l="l" t="t" r="r" b="b"/>
            <a:pathLst>
              <a:path w="8479022" h="8479022">
                <a:moveTo>
                  <a:pt x="0" y="0"/>
                </a:moveTo>
                <a:lnTo>
                  <a:pt x="8479021" y="0"/>
                </a:lnTo>
                <a:lnTo>
                  <a:pt x="8479021" y="8479021"/>
                </a:lnTo>
                <a:lnTo>
                  <a:pt x="0" y="84790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rot="-608242">
            <a:off x="15337766" y="1366802"/>
            <a:ext cx="6113463" cy="6113463"/>
          </a:xfrm>
          <a:custGeom>
            <a:avLst/>
            <a:gdLst/>
            <a:ahLst/>
            <a:cxnLst/>
            <a:rect l="l" t="t" r="r" b="b"/>
            <a:pathLst>
              <a:path w="6113463" h="6113463">
                <a:moveTo>
                  <a:pt x="0" y="0"/>
                </a:moveTo>
                <a:lnTo>
                  <a:pt x="6113463" y="0"/>
                </a:lnTo>
                <a:lnTo>
                  <a:pt x="6113463" y="6113463"/>
                </a:lnTo>
                <a:lnTo>
                  <a:pt x="0" y="611346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4776683" y="2676642"/>
            <a:ext cx="8734634" cy="819023"/>
          </a:xfrm>
          <a:prstGeom prst="rect">
            <a:avLst/>
          </a:prstGeom>
        </p:spPr>
        <p:txBody>
          <a:bodyPr lIns="0" tIns="0" rIns="0" bIns="0" rtlCol="0" anchor="t">
            <a:spAutoFit/>
          </a:bodyPr>
          <a:lstStyle/>
          <a:p>
            <a:pPr algn="ctr">
              <a:lnSpc>
                <a:spcPts val="6496"/>
              </a:lnSpc>
            </a:pPr>
            <a:r>
              <a:rPr lang="en-US" sz="5600" b="1">
                <a:solidFill>
                  <a:srgbClr val="F5E5E1"/>
                </a:solidFill>
                <a:latin typeface="Montserrat Bold"/>
                <a:ea typeface="Montserrat Bold"/>
                <a:cs typeface="Montserrat Bold"/>
                <a:sym typeface="Montserrat Bold"/>
              </a:rPr>
              <a:t>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8691</TotalTime>
  <Words>1668</Words>
  <Application>Microsoft Macintosh PowerPoint</Application>
  <PresentationFormat>Custom</PresentationFormat>
  <Paragraphs>223</Paragraphs>
  <Slides>23</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Montserrat Bold</vt:lpstr>
      <vt:lpstr>Montserrat</vt:lpstr>
      <vt:lpstr>Arial</vt:lpstr>
      <vt:lpstr>Montserrat Medium</vt:lpstr>
      <vt:lpstr>Calibri</vt:lpstr>
      <vt:lpstr>Aptos</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Teal and White Abstract Geometric Business Webinar Presentation</dc:title>
  <cp:lastModifiedBy>Sina Fischer</cp:lastModifiedBy>
  <cp:revision>33</cp:revision>
  <dcterms:created xsi:type="dcterms:W3CDTF">2006-08-16T00:00:00Z</dcterms:created>
  <dcterms:modified xsi:type="dcterms:W3CDTF">2026-03-16T14:49:22Z</dcterms:modified>
  <dc:identifier>DAG_4q6pR58</dc:identifier>
</cp:coreProperties>
</file>